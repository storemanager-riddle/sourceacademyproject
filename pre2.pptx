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59" r:id="rId6"/>
    <p:sldId id="260" r:id="rId7"/>
    <p:sldId id="261" r:id="rId8"/>
    <p:sldId id="262" r:id="rId9"/>
    <p:sldId id="263" r:id="rId10"/>
    <p:sldId id="264" r:id="rId11"/>
    <p:sldId id="266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6" y="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npc_elf.png: https://github.com/StoreManager-Riddle/SourceAcademyProject</a:t>
            </a:r>
          </a:p>
          <a:p>
            <a:r>
              <a:t>- gun assets: https://github.com/StoreManager-Riddle/SourceAcademyProject</a:t>
            </a:r>
          </a:p>
          <a:p>
            <a:r>
              <a:t>- script_3.1.txt: https://github.com/StoreManager-Riddle/SourceAcademyProject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script_3.1.txt: https://github.com/StoreManager-Riddle/SourceAcademyProject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script_3.1.txt: generated tile map and gameplay loop: https://github.com/StoreManager-Riddle/SourceAcademyProject</a:t>
            </a:r>
          </a:p>
          <a:p>
            <a:r>
              <a:t>- Source game sprites used in poster map: https://github.com/StoreManager-Riddle/SourceAcademyProject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Repository root, script_3.1.txt, assets folders: https://github.com/StoreManager-Riddle/SourceAcademyProject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script_3.1.txt: input_listener, update_map_offset: https://github.com/StoreManager-Riddle/SourceAcademyProject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script_3.1.txt: bullets, bullet_pool_size = 500: https://github.com/StoreManager-Riddle/SourceAcademyProject</a:t>
            </a:r>
          </a:p>
          <a:p>
            <a:r>
              <a:t>- ak47.png: https://github.com/StoreManager-Riddle/SourceAcademyProject</a:t>
            </a:r>
          </a:p>
          <a:p>
            <a:r>
              <a:t>- bullet.png: https://github.com/StoreManager-Riddle/SourceAcademyProject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- script_3.1.txt: enemy, </a:t>
            </a:r>
            <a:r>
              <a:rPr dirty="0" err="1"/>
              <a:t>enemy_spawner</a:t>
            </a:r>
            <a:r>
              <a:rPr dirty="0"/>
              <a:t>, collision loops: https://github.com/StoreManager-Riddle/SourceAcademyProject</a:t>
            </a:r>
          </a:p>
          <a:p>
            <a:r>
              <a:rPr dirty="0"/>
              <a:t>- fire_elemental.png: https://github.com/StoreManager-Riddle/SourceAcademyProject</a:t>
            </a:r>
          </a:p>
          <a:p>
            <a:r>
              <a:rPr dirty="0"/>
              <a:t>- orc.png: https://github.com/StoreManager-Riddle/SourceAcademyProject</a:t>
            </a:r>
          </a:p>
          <a:p>
            <a:r>
              <a:rPr dirty="0"/>
              <a:t>- healer.png: https://github.com/StoreManager-Riddle/SourceAcademyProject</a:t>
            </a:r>
          </a:p>
          <a:p>
            <a:r>
              <a:rPr dirty="0"/>
              <a:t>- reward_monster.png: https://github.com/StoreManager-Riddle/SourceAcademyProject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script_3.1.txt: enemy_spawner: https://github.com/StoreManager-Riddle/SourceAcademyProject</a:t>
            </a:r>
          </a:p>
          <a:p>
            <a:r>
              <a:t>- script_3.1.txt: spawn_boss: https://github.com/StoreManager-Riddle/SourceAcademyProject</a:t>
            </a:r>
          </a:p>
          <a:p>
            <a:r>
              <a:t>- script_3.1.txt: max_pool_size = 100, boss_pool_size = 5: https://github.com/StoreManager-Riddle/SourceAcademyProject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script_3.1.txt: generateTileMap, map.generate_map: https://github.com/StoreManager-Riddle/SourceAcademyProject</a:t>
            </a:r>
          </a:p>
          <a:p>
            <a:r>
              <a:t>- walls_floor.png: https://github.com/StoreManager-Riddle/SourceAcademyProject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script_3.1.txt: lightCover, fireLightCover, HP/XP UI: https://github.com/StoreManager-Riddle/SourceAcademyProject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wall_center.png: https://github.com/StoreManager-Riddle/SourceAcademyProject</a:t>
            </a:r>
          </a:p>
          <a:p>
            <a:r>
              <a:t>- reward_drop.png: https://github.com/StoreManager-Riddle/SourceAcademyProject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9CACED0-DDB8-4E2F-8274-A784BC2761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228600"/>
          </a:xfrm>
          <a:prstGeom prst="rect">
            <a:avLst/>
          </a:prstGeom>
          <a:solidFill>
            <a:srgbClr val="343B5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9411421-5D5E-4EC7-BCBE-427C35E640C8}"/>
              </a:ext>
            </a:extLst>
          </p:cNvPr>
          <p:cNvSpPr>
            <a:spLocks noGrp="1"/>
          </p:cNvSpPr>
          <p:nvPr/>
        </p:nvSpPr>
        <p:spPr>
          <a:xfrm>
            <a:off x="685800" y="609600"/>
            <a:ext cx="5048250" cy="38100"/>
          </a:xfrm>
          <a:prstGeom prst="rect">
            <a:avLst/>
          </a:prstGeom>
          <a:solidFill>
            <a:srgbClr val="C7A96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10D667-FBB9-449C-84E3-E2001E42FC10}"/>
              </a:ext>
            </a:extLst>
          </p:cNvPr>
          <p:cNvSpPr>
            <a:spLocks noGrp="1"/>
          </p:cNvSpPr>
          <p:nvPr/>
        </p:nvSpPr>
        <p:spPr>
          <a:xfrm>
            <a:off x="685800" y="838200"/>
            <a:ext cx="4953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C7A96D"/>
                </a:solidFill>
              </a:defRPr>
            </a:pPr>
            <a:r>
              <a:rPr sz="1125" b="1">
                <a:solidFill>
                  <a:srgbClr val="C7A96D"/>
                </a:solidFill>
              </a:rPr>
              <a:t>SOURCE ACADEMY  |  SWS3012_05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0E469B4-0CF1-4E47-83E2-DEA3E7EAAA81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6000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050" b="1">
                <a:solidFill>
                  <a:srgbClr val="343B57"/>
                </a:solidFill>
              </a:defRPr>
            </a:pPr>
            <a:r>
              <a:rPr sz="4050" b="1">
                <a:solidFill>
                  <a:srgbClr val="343B57"/>
                </a:solidFill>
              </a:rPr>
              <a:t>THE PUNISHMENT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680EF6-B152-46A1-97BE-01A4DA80CE71}"/>
              </a:ext>
            </a:extLst>
          </p:cNvPr>
          <p:cNvSpPr>
            <a:spLocks noGrp="1"/>
          </p:cNvSpPr>
          <p:nvPr/>
        </p:nvSpPr>
        <p:spPr>
          <a:xfrm>
            <a:off x="685800" y="2095500"/>
            <a:ext cx="65722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925" b="1">
                <a:solidFill>
                  <a:srgbClr val="C7A96D"/>
                </a:solidFill>
              </a:defRPr>
            </a:pPr>
            <a:r>
              <a:rPr sz="2925" b="1">
                <a:solidFill>
                  <a:srgbClr val="C7A96D"/>
                </a:solidFill>
              </a:rPr>
              <a:t>OF THE PEANUT BUTTER GOD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72C63B2-525E-481E-9744-C112D107E19D}"/>
              </a:ext>
            </a:extLst>
          </p:cNvPr>
          <p:cNvSpPr>
            <a:spLocks noGrp="1"/>
          </p:cNvSpPr>
          <p:nvPr/>
        </p:nvSpPr>
        <p:spPr>
          <a:xfrm>
            <a:off x="685800" y="3067050"/>
            <a:ext cx="50482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22263A"/>
                </a:solidFill>
              </a:defRPr>
            </a:pPr>
            <a:r>
              <a:rPr sz="2100" b="1">
                <a:solidFill>
                  <a:srgbClr val="22263A"/>
                </a:solidFill>
              </a:rPr>
              <a:t>Top-down roguelite shooter</a:t>
            </a:r>
          </a:p>
          <a:p>
            <a:pPr>
              <a:defRPr sz="2100" b="1">
                <a:solidFill>
                  <a:srgbClr val="22263A"/>
                </a:solidFill>
              </a:defRPr>
            </a:pPr>
            <a:r>
              <a:rPr sz="2100" b="1">
                <a:solidFill>
                  <a:srgbClr val="22263A"/>
                </a:solidFill>
              </a:rPr>
              <a:t>Program logic presentation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E932197-71E8-4A1C-BAD1-DE7CA618E82C}"/>
              </a:ext>
            </a:extLst>
          </p:cNvPr>
          <p:cNvSpPr>
            <a:spLocks noGrp="1"/>
          </p:cNvSpPr>
          <p:nvPr/>
        </p:nvSpPr>
        <p:spPr>
          <a:xfrm>
            <a:off x="685800" y="4552950"/>
            <a:ext cx="59055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22263A"/>
                </a:solidFill>
              </a:defRPr>
            </a:pPr>
            <a:r>
              <a:rPr sz="1350">
                <a:solidFill>
                  <a:srgbClr val="22263A"/>
                </a:solidFill>
              </a:rPr>
              <a:t>Team: never fade away</a:t>
            </a:r>
          </a:p>
          <a:p>
            <a:pPr>
              <a:defRPr sz="1350">
                <a:solidFill>
                  <a:srgbClr val="22263A"/>
                </a:solidFill>
              </a:defRPr>
            </a:pPr>
            <a:r>
              <a:rPr sz="1350">
                <a:solidFill>
                  <a:srgbClr val="22263A"/>
                </a:solidFill>
              </a:rPr>
              <a:t>Yuzhen Lin  |  Pinjia Li  |  Zecheng Sun  |  Jiatao He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B740C4BE-1493-4FF7-9186-6C23B765C3C0}"/>
              </a:ext>
            </a:extLst>
          </p:cNvPr>
          <p:cNvSpPr>
            <a:spLocks noGrp="1"/>
          </p:cNvSpPr>
          <p:nvPr/>
        </p:nvSpPr>
        <p:spPr>
          <a:xfrm>
            <a:off x="7429500" y="628650"/>
            <a:ext cx="4076700" cy="5095875"/>
          </a:xfrm>
          <a:prstGeom prst="roundRect">
            <a:avLst>
              <a:gd name="adj" fmla="val 1869"/>
            </a:avLst>
          </a:prstGeom>
          <a:solidFill>
            <a:srgbClr val="E8E5DA"/>
          </a:solidFill>
          <a:ln w="9525">
            <a:solidFill>
              <a:srgbClr val="CAD1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9DC77D50-E1F4-4622-B186-2475A978F689}"/>
              </a:ext>
            </a:extLst>
          </p:cNvPr>
          <p:cNvSpPr>
            <a:spLocks noGrp="1"/>
          </p:cNvSpPr>
          <p:nvPr/>
        </p:nvSpPr>
        <p:spPr>
          <a:xfrm>
            <a:off x="7715250" y="952500"/>
            <a:ext cx="1028700" cy="247650"/>
          </a:xfrm>
          <a:prstGeom prst="roundRect">
            <a:avLst>
              <a:gd name="adj" fmla="val 15385"/>
            </a:avLst>
          </a:prstGeom>
          <a:solidFill>
            <a:srgbClr val="D4A097"/>
          </a:solidFill>
          <a:ln w="0">
            <a:solidFill>
              <a:srgbClr val="D4A09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723A729-FBDC-4317-BDF5-D02CC1D54C32}"/>
              </a:ext>
            </a:extLst>
          </p:cNvPr>
          <p:cNvSpPr>
            <a:spLocks noGrp="1"/>
          </p:cNvSpPr>
          <p:nvPr/>
        </p:nvSpPr>
        <p:spPr>
          <a:xfrm>
            <a:off x="7810500" y="990600"/>
            <a:ext cx="8382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343B57"/>
                </a:solidFill>
              </a:defRPr>
            </a:pPr>
            <a:r>
              <a:rPr sz="975" b="1">
                <a:solidFill>
                  <a:srgbClr val="343B57"/>
                </a:solidFill>
              </a:rPr>
              <a:t>RUN 01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72500" y="2376488"/>
            <a:ext cx="1666875" cy="166687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162925" y="4457700"/>
            <a:ext cx="2571750" cy="10287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E9140508-AC83-4507-84D8-DDD72DD387BA}"/>
              </a:ext>
            </a:extLst>
          </p:cNvPr>
          <p:cNvSpPr>
            <a:spLocks noGrp="1"/>
          </p:cNvSpPr>
          <p:nvPr/>
        </p:nvSpPr>
        <p:spPr>
          <a:xfrm>
            <a:off x="685800" y="6096000"/>
            <a:ext cx="40957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43B57"/>
                </a:solidFill>
              </a:defRPr>
            </a:pPr>
            <a:r>
              <a:rPr sz="1050" b="1">
                <a:solidFill>
                  <a:srgbClr val="343B57"/>
                </a:solidFill>
              </a:rPr>
              <a:t>GITHUB-ASSETED</a:t>
            </a:r>
          </a:p>
          <a:p>
            <a:pPr>
              <a:defRPr sz="1050" b="1">
                <a:solidFill>
                  <a:srgbClr val="343B57"/>
                </a:solidFill>
              </a:defRPr>
            </a:pPr>
            <a:r>
              <a:rPr sz="1050" b="1">
                <a:solidFill>
                  <a:srgbClr val="343B57"/>
                </a:solidFill>
              </a:rPr>
              <a:t>ARCADE_2D PROJECT</a:t>
            </a:r>
          </a:p>
        </p:txBody>
      </p:sp>
    </p:spTree>
    <p:extLst>
      <p:ext uri="{BB962C8B-B14F-4D97-AF65-F5344CB8AC3E}">
        <p14:creationId xmlns:p14="http://schemas.microsoft.com/office/powerpoint/2010/main" val="6113131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5E9C8140-FC08-404D-B90C-7D128D024281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28575"/>
          </a:xfrm>
          <a:prstGeom prst="rect">
            <a:avLst/>
          </a:prstGeom>
          <a:solidFill>
            <a:srgbClr val="C7A96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120A18E-B539-465F-95F3-3B19555592FE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43B57"/>
                </a:solidFill>
              </a:defRPr>
            </a:pPr>
            <a:r>
              <a:rPr sz="1050" b="1">
                <a:solidFill>
                  <a:srgbClr val="343B57"/>
                </a:solidFill>
              </a:rPr>
              <a:t>SWS3012_05  |  NEVER FADE AWAY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975B139-20FB-40CC-8962-C171EA440C4D}"/>
              </a:ext>
            </a:extLst>
          </p:cNvPr>
          <p:cNvSpPr>
            <a:spLocks noGrp="1"/>
          </p:cNvSpPr>
          <p:nvPr/>
        </p:nvSpPr>
        <p:spPr>
          <a:xfrm>
            <a:off x="10839450" y="63055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C7A96D"/>
                </a:solidFill>
              </a:defRPr>
            </a:pPr>
            <a:r>
              <a:rPr sz="1200" b="1">
                <a:solidFill>
                  <a:srgbClr val="C7A96D"/>
                </a:solidFill>
              </a:rPr>
              <a:t>02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52C104E-5381-46BD-992F-A95F14C61C43}"/>
              </a:ext>
            </a:extLst>
          </p:cNvPr>
          <p:cNvSpPr>
            <a:spLocks noGrp="1"/>
          </p:cNvSpPr>
          <p:nvPr/>
        </p:nvSpPr>
        <p:spPr>
          <a:xfrm>
            <a:off x="685800" y="695325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C7A96D"/>
                </a:solidFill>
              </a:defRPr>
            </a:pPr>
            <a:r>
              <a:rPr sz="1125" b="1">
                <a:solidFill>
                  <a:srgbClr val="C7A96D"/>
                </a:solidFill>
              </a:rPr>
              <a:t>OUTLINE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1791A5-6958-40BA-95F9-DF304A8F6BE1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343B57"/>
                </a:solidFill>
              </a:defRPr>
            </a:pPr>
            <a:r>
              <a:rPr sz="3150" b="1">
                <a:solidFill>
                  <a:srgbClr val="343B57"/>
                </a:solidFill>
              </a:rPr>
              <a:t>From Player Experience to Runtime Logic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2F55C6F-BE97-4AEB-A79D-E44A6C5FD8BE}"/>
              </a:ext>
            </a:extLst>
          </p:cNvPr>
          <p:cNvSpPr>
            <a:spLocks noGrp="1"/>
          </p:cNvSpPr>
          <p:nvPr/>
        </p:nvSpPr>
        <p:spPr>
          <a:xfrm>
            <a:off x="685800" y="1685925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22263A"/>
                </a:solidFill>
              </a:defRPr>
            </a:pPr>
            <a:r>
              <a:rPr sz="1500">
                <a:solidFill>
                  <a:srgbClr val="22263A"/>
                </a:solidFill>
              </a:rPr>
              <a:t>This presentation follows the data that moves through the game: player input, world offsets, pooled objects, and UI state.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59E551-8A9E-46D9-8C5F-331ECCDD2BF4}"/>
              </a:ext>
            </a:extLst>
          </p:cNvPr>
          <p:cNvSpPr>
            <a:spLocks noGrp="1"/>
          </p:cNvSpPr>
          <p:nvPr/>
        </p:nvSpPr>
        <p:spPr>
          <a:xfrm>
            <a:off x="1047750" y="2619375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C7A96D"/>
                </a:solidFill>
              </a:defRPr>
            </a:pPr>
            <a:r>
              <a:rPr sz="2100" b="1">
                <a:solidFill>
                  <a:srgbClr val="C7A96D"/>
                </a:solidFill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1F0D21D-5076-4F9C-AA70-63C85B29CE1C}"/>
              </a:ext>
            </a:extLst>
          </p:cNvPr>
          <p:cNvSpPr>
            <a:spLocks noGrp="1"/>
          </p:cNvSpPr>
          <p:nvPr/>
        </p:nvSpPr>
        <p:spPr>
          <a:xfrm>
            <a:off x="2095500" y="2600325"/>
            <a:ext cx="3429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343B57"/>
                </a:solidFill>
              </a:defRPr>
            </a:pPr>
            <a:r>
              <a:rPr sz="1950" b="1">
                <a:solidFill>
                  <a:srgbClr val="343B57"/>
                </a:solidFill>
              </a:rPr>
              <a:t>Gameplay &amp; Content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354951D-C73B-484C-8417-2FEFCBDBF505}"/>
              </a:ext>
            </a:extLst>
          </p:cNvPr>
          <p:cNvSpPr>
            <a:spLocks noGrp="1"/>
          </p:cNvSpPr>
          <p:nvPr/>
        </p:nvSpPr>
        <p:spPr>
          <a:xfrm>
            <a:off x="5905500" y="26479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22263A"/>
                </a:solidFill>
              </a:defRPr>
            </a:pPr>
            <a:r>
              <a:rPr sz="1350">
                <a:solidFill>
                  <a:srgbClr val="22263A"/>
                </a:solidFill>
              </a:rPr>
              <a:t>The moment-to-moment player loop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4CFB93E-C381-4F4B-A16A-DC6C002E9177}"/>
              </a:ext>
            </a:extLst>
          </p:cNvPr>
          <p:cNvSpPr>
            <a:spLocks noGrp="1"/>
          </p:cNvSpPr>
          <p:nvPr/>
        </p:nvSpPr>
        <p:spPr>
          <a:xfrm>
            <a:off x="1047750" y="3152775"/>
            <a:ext cx="7858125" cy="9525"/>
          </a:xfrm>
          <a:prstGeom prst="rect">
            <a:avLst/>
          </a:prstGeom>
          <a:solidFill>
            <a:srgbClr val="CAD1D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0C840EA-EFA4-4D4F-B654-9EA16393A857}"/>
              </a:ext>
            </a:extLst>
          </p:cNvPr>
          <p:cNvSpPr>
            <a:spLocks noGrp="1"/>
          </p:cNvSpPr>
          <p:nvPr/>
        </p:nvSpPr>
        <p:spPr>
          <a:xfrm>
            <a:off x="1047750" y="3343275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C7A96D"/>
                </a:solidFill>
              </a:defRPr>
            </a:pPr>
            <a:r>
              <a:rPr sz="2100" b="1">
                <a:solidFill>
                  <a:srgbClr val="C7A96D"/>
                </a:solidFill>
              </a:rPr>
              <a:t>02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9112B5B-76FF-4F04-83BD-222F5CB2AB33}"/>
              </a:ext>
            </a:extLst>
          </p:cNvPr>
          <p:cNvSpPr>
            <a:spLocks noGrp="1"/>
          </p:cNvSpPr>
          <p:nvPr/>
        </p:nvSpPr>
        <p:spPr>
          <a:xfrm>
            <a:off x="2095500" y="3324225"/>
            <a:ext cx="3429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343B57"/>
                </a:solidFill>
              </a:defRPr>
            </a:pPr>
            <a:r>
              <a:rPr sz="1950" b="1">
                <a:solidFill>
                  <a:srgbClr val="343B57"/>
                </a:solidFill>
              </a:rPr>
              <a:t>Core Runtime Systems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F5F3A3C-A997-4114-9788-4B4F6FFED403}"/>
              </a:ext>
            </a:extLst>
          </p:cNvPr>
          <p:cNvSpPr>
            <a:spLocks noGrp="1"/>
          </p:cNvSpPr>
          <p:nvPr/>
        </p:nvSpPr>
        <p:spPr>
          <a:xfrm>
            <a:off x="5905500" y="33718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22263A"/>
                </a:solidFill>
              </a:defRPr>
            </a:pPr>
            <a:r>
              <a:rPr sz="1350">
                <a:solidFill>
                  <a:srgbClr val="22263A"/>
                </a:solidFill>
              </a:rPr>
              <a:t>Camera, player, enemy systems, and tiles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55B43BE-0CB1-4ECB-872D-0972E6DF28FE}"/>
              </a:ext>
            </a:extLst>
          </p:cNvPr>
          <p:cNvSpPr>
            <a:spLocks noGrp="1"/>
          </p:cNvSpPr>
          <p:nvPr/>
        </p:nvSpPr>
        <p:spPr>
          <a:xfrm>
            <a:off x="1047750" y="3876675"/>
            <a:ext cx="7858125" cy="9525"/>
          </a:xfrm>
          <a:prstGeom prst="rect">
            <a:avLst/>
          </a:prstGeom>
          <a:solidFill>
            <a:srgbClr val="CAD1D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DE797B4-BFA5-4E68-B1A3-B1E344507680}"/>
              </a:ext>
            </a:extLst>
          </p:cNvPr>
          <p:cNvSpPr>
            <a:spLocks noGrp="1"/>
          </p:cNvSpPr>
          <p:nvPr/>
        </p:nvSpPr>
        <p:spPr>
          <a:xfrm>
            <a:off x="1047750" y="4067175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C7A96D"/>
                </a:solidFill>
              </a:defRPr>
            </a:pPr>
            <a:r>
              <a:rPr sz="2100" b="1">
                <a:solidFill>
                  <a:srgbClr val="C7A96D"/>
                </a:solidFill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5890CA6-B021-4D10-8CB8-CDD6C1C80F3B}"/>
              </a:ext>
            </a:extLst>
          </p:cNvPr>
          <p:cNvSpPr>
            <a:spLocks noGrp="1"/>
          </p:cNvSpPr>
          <p:nvPr/>
        </p:nvSpPr>
        <p:spPr>
          <a:xfrm>
            <a:off x="2095500" y="4048125"/>
            <a:ext cx="3429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343B57"/>
                </a:solidFill>
              </a:defRPr>
            </a:pPr>
            <a:r>
              <a:rPr sz="1950" b="1">
                <a:solidFill>
                  <a:srgbClr val="343B57"/>
                </a:solidFill>
              </a:rPr>
              <a:t>Dynamic Game Systems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AF2F910-EC48-4FD9-904B-2A67CF993AD9}"/>
              </a:ext>
            </a:extLst>
          </p:cNvPr>
          <p:cNvSpPr>
            <a:spLocks noGrp="1"/>
          </p:cNvSpPr>
          <p:nvPr/>
        </p:nvSpPr>
        <p:spPr>
          <a:xfrm>
            <a:off x="5905500" y="40957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22263A"/>
                </a:solidFill>
              </a:defRPr>
            </a:pPr>
            <a:r>
              <a:rPr sz="1350">
                <a:solidFill>
                  <a:srgbClr val="22263A"/>
                </a:solidFill>
              </a:rPr>
              <a:t>Spawn logic, lighting, collision, and UI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78FBE95-36CA-46A4-B21D-3343C6E336FA}"/>
              </a:ext>
            </a:extLst>
          </p:cNvPr>
          <p:cNvSpPr>
            <a:spLocks noGrp="1"/>
          </p:cNvSpPr>
          <p:nvPr/>
        </p:nvSpPr>
        <p:spPr>
          <a:xfrm>
            <a:off x="1047750" y="4600575"/>
            <a:ext cx="7858125" cy="9525"/>
          </a:xfrm>
          <a:prstGeom prst="rect">
            <a:avLst/>
          </a:prstGeom>
          <a:solidFill>
            <a:srgbClr val="CAD1D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7A4F1C4-3C07-4EFF-B09F-988691B8C60C}"/>
              </a:ext>
            </a:extLst>
          </p:cNvPr>
          <p:cNvSpPr>
            <a:spLocks noGrp="1"/>
          </p:cNvSpPr>
          <p:nvPr/>
        </p:nvSpPr>
        <p:spPr>
          <a:xfrm>
            <a:off x="1047750" y="4791075"/>
            <a:ext cx="666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C7A96D"/>
                </a:solidFill>
              </a:defRPr>
            </a:pPr>
            <a:r>
              <a:rPr sz="2100" b="1">
                <a:solidFill>
                  <a:srgbClr val="C7A96D"/>
                </a:solidFill>
              </a:rPr>
              <a:t>04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CC26EA7-D5BA-47D5-BBD8-D55129476CEB}"/>
              </a:ext>
            </a:extLst>
          </p:cNvPr>
          <p:cNvSpPr>
            <a:spLocks noGrp="1"/>
          </p:cNvSpPr>
          <p:nvPr/>
        </p:nvSpPr>
        <p:spPr>
          <a:xfrm>
            <a:off x="2095500" y="4772025"/>
            <a:ext cx="3429000" cy="3143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343B57"/>
                </a:solidFill>
              </a:defRPr>
            </a:pPr>
            <a:r>
              <a:rPr sz="1950" b="1">
                <a:solidFill>
                  <a:srgbClr val="343B57"/>
                </a:solidFill>
              </a:rPr>
              <a:t>Collaboration &amp; Assets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A72854F-7D96-4681-A95D-FB1387E876DD}"/>
              </a:ext>
            </a:extLst>
          </p:cNvPr>
          <p:cNvSpPr>
            <a:spLocks noGrp="1"/>
          </p:cNvSpPr>
          <p:nvPr/>
        </p:nvSpPr>
        <p:spPr>
          <a:xfrm>
            <a:off x="5905500" y="48196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22263A"/>
                </a:solidFill>
              </a:defRPr>
            </a:pPr>
            <a:r>
              <a:rPr sz="1350">
                <a:solidFill>
                  <a:srgbClr val="22263A"/>
                </a:solidFill>
              </a:rPr>
              <a:t>GitHub repository and asset workflow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CB28CE44-F5F1-4AA5-8912-6B7486B4033A}"/>
              </a:ext>
            </a:extLst>
          </p:cNvPr>
          <p:cNvSpPr>
            <a:spLocks noGrp="1"/>
          </p:cNvSpPr>
          <p:nvPr/>
        </p:nvSpPr>
        <p:spPr>
          <a:xfrm>
            <a:off x="9696450" y="2571750"/>
            <a:ext cx="1562100" cy="2514600"/>
          </a:xfrm>
          <a:prstGeom prst="roundRect">
            <a:avLst>
              <a:gd name="adj" fmla="val 4878"/>
            </a:avLst>
          </a:prstGeom>
          <a:solidFill>
            <a:srgbClr val="343B57"/>
          </a:solidFill>
          <a:ln w="0">
            <a:solidFill>
              <a:srgbClr val="343B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242528F-55A4-4354-AC7E-7698BAA8D5FB}"/>
              </a:ext>
            </a:extLst>
          </p:cNvPr>
          <p:cNvSpPr>
            <a:spLocks noGrp="1"/>
          </p:cNvSpPr>
          <p:nvPr/>
        </p:nvSpPr>
        <p:spPr>
          <a:xfrm>
            <a:off x="9829800" y="3009900"/>
            <a:ext cx="129540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250" b="1">
                <a:solidFill>
                  <a:srgbClr val="F0EDE3"/>
                </a:solidFill>
              </a:defRPr>
            </a:pPr>
            <a:r>
              <a:rPr sz="2250" b="1">
                <a:solidFill>
                  <a:srgbClr val="F0EDE3"/>
                </a:solidFill>
              </a:rPr>
              <a:t>11</a:t>
            </a:r>
          </a:p>
          <a:p>
            <a:pPr algn="ctr">
              <a:defRPr sz="2250" b="1">
                <a:solidFill>
                  <a:srgbClr val="F0EDE3"/>
                </a:solidFill>
              </a:defRPr>
            </a:pPr>
            <a:r>
              <a:rPr sz="2250" b="1">
                <a:solidFill>
                  <a:srgbClr val="F0EDE3"/>
                </a:solidFill>
              </a:rPr>
              <a:t>SLIDES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EDEA3E2-F9EA-46C5-ACC7-F6AD721E89A0}"/>
              </a:ext>
            </a:extLst>
          </p:cNvPr>
          <p:cNvSpPr>
            <a:spLocks noGrp="1"/>
          </p:cNvSpPr>
          <p:nvPr/>
        </p:nvSpPr>
        <p:spPr>
          <a:xfrm>
            <a:off x="9953625" y="4171950"/>
            <a:ext cx="1047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C7A96D"/>
                </a:solidFill>
              </a:defRPr>
            </a:pPr>
            <a:r>
              <a:rPr sz="1275" b="1">
                <a:solidFill>
                  <a:srgbClr val="C7A96D"/>
                </a:solidFill>
              </a:rPr>
              <a:t>GAME</a:t>
            </a:r>
          </a:p>
          <a:p>
            <a:pPr algn="ctr">
              <a:defRPr sz="1275" b="1">
                <a:solidFill>
                  <a:srgbClr val="C7A96D"/>
                </a:solidFill>
              </a:defRPr>
            </a:pPr>
            <a:r>
              <a:rPr sz="1275" b="1">
                <a:solidFill>
                  <a:srgbClr val="C7A96D"/>
                </a:solidFill>
              </a:rPr>
              <a:t>SYSTEMS</a:t>
            </a:r>
          </a:p>
        </p:txBody>
      </p:sp>
    </p:spTree>
    <p:extLst>
      <p:ext uri="{BB962C8B-B14F-4D97-AF65-F5344CB8AC3E}">
        <p14:creationId xmlns:p14="http://schemas.microsoft.com/office/powerpoint/2010/main" val="1046654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357A1D9D-2938-4BFD-809C-58E86018A10B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28575"/>
          </a:xfrm>
          <a:prstGeom prst="rect">
            <a:avLst/>
          </a:prstGeom>
          <a:solidFill>
            <a:srgbClr val="C7A96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291074A-1C15-4B21-B87F-22B456EDF47E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43B57"/>
                </a:solidFill>
              </a:defRPr>
            </a:pPr>
            <a:r>
              <a:rPr sz="1050" b="1">
                <a:solidFill>
                  <a:srgbClr val="343B57"/>
                </a:solidFill>
              </a:rPr>
              <a:t>01  |  GAMEPLAY &amp; CONTENT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F8C4D55-278D-43BC-A056-845D5EC441A0}"/>
              </a:ext>
            </a:extLst>
          </p:cNvPr>
          <p:cNvSpPr>
            <a:spLocks noGrp="1"/>
          </p:cNvSpPr>
          <p:nvPr/>
        </p:nvSpPr>
        <p:spPr>
          <a:xfrm>
            <a:off x="10839450" y="63055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C7A96D"/>
                </a:solidFill>
              </a:defRPr>
            </a:pPr>
            <a:r>
              <a:rPr sz="1200" b="1">
                <a:solidFill>
                  <a:srgbClr val="C7A96D"/>
                </a:solidFill>
              </a:rPr>
              <a:t>03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D0638F-4941-4A59-872F-23391B4764F2}"/>
              </a:ext>
            </a:extLst>
          </p:cNvPr>
          <p:cNvSpPr>
            <a:spLocks noGrp="1"/>
          </p:cNvSpPr>
          <p:nvPr/>
        </p:nvSpPr>
        <p:spPr>
          <a:xfrm>
            <a:off x="685800" y="695325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C7A96D"/>
                </a:solidFill>
              </a:defRPr>
            </a:pPr>
            <a:r>
              <a:rPr sz="1125" b="1">
                <a:solidFill>
                  <a:srgbClr val="C7A96D"/>
                </a:solidFill>
              </a:rPr>
              <a:t>GAMEPLAY &amp; CONTENT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457C802-3780-4953-80D3-54C9CD4672B6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343B57"/>
                </a:solidFill>
              </a:defRPr>
            </a:pPr>
            <a:r>
              <a:rPr sz="3150" b="1">
                <a:solidFill>
                  <a:srgbClr val="343B57"/>
                </a:solidFill>
              </a:rPr>
              <a:t>Adapt Under Pressure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6A4013-8A02-4042-8A95-C71BDB066B0B}"/>
              </a:ext>
            </a:extLst>
          </p:cNvPr>
          <p:cNvSpPr>
            <a:spLocks noGrp="1"/>
          </p:cNvSpPr>
          <p:nvPr/>
        </p:nvSpPr>
        <p:spPr>
          <a:xfrm>
            <a:off x="685800" y="1685925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22263A"/>
                </a:solidFill>
              </a:defRPr>
            </a:pPr>
            <a:r>
              <a:rPr sz="1500">
                <a:solidFill>
                  <a:srgbClr val="22263A"/>
                </a:solidFill>
              </a:rPr>
              <a:t>The game loop combines a generated dungeon, mouse-aimed combat, and random upgrades into a repeatable survival challenge.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D529A71-F095-450A-8E3F-A15ADCA52D8C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5829300" cy="33528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AD1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 t="31015" b="31015"/>
          <a:stretch>
            <a:fillRect/>
          </a:stretch>
        </p:blipFill>
        <p:spPr>
          <a:xfrm>
            <a:off x="904875" y="2552700"/>
            <a:ext cx="5391150" cy="28956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0A1E841B-7E22-414D-AA11-0617F0F749F5}"/>
              </a:ext>
            </a:extLst>
          </p:cNvPr>
          <p:cNvSpPr>
            <a:spLocks noGrp="1"/>
          </p:cNvSpPr>
          <p:nvPr/>
        </p:nvSpPr>
        <p:spPr>
          <a:xfrm>
            <a:off x="7105650" y="26860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C7A96D"/>
                </a:solidFill>
              </a:defRPr>
            </a:pPr>
            <a:r>
              <a:rPr sz="1425" b="1">
                <a:solidFill>
                  <a:srgbClr val="C7A96D"/>
                </a:solidFill>
              </a:rPr>
              <a:t>01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FB7D80-ADC0-4380-B3E9-6DDF6B460210}"/>
              </a:ext>
            </a:extLst>
          </p:cNvPr>
          <p:cNvSpPr>
            <a:spLocks noGrp="1"/>
          </p:cNvSpPr>
          <p:nvPr/>
        </p:nvSpPr>
        <p:spPr>
          <a:xfrm>
            <a:off x="7105650" y="308610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343B57"/>
                </a:solidFill>
              </a:defRPr>
            </a:pPr>
            <a:r>
              <a:rPr sz="1950" b="1">
                <a:solidFill>
                  <a:srgbClr val="343B57"/>
                </a:solidFill>
              </a:rPr>
              <a:t>MOVE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9ED0EE-0EEC-4963-BE05-A10F7B3E467E}"/>
              </a:ext>
            </a:extLst>
          </p:cNvPr>
          <p:cNvSpPr>
            <a:spLocks noGrp="1"/>
          </p:cNvSpPr>
          <p:nvPr/>
        </p:nvSpPr>
        <p:spPr>
          <a:xfrm>
            <a:off x="7105650" y="3524250"/>
            <a:ext cx="114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2263A"/>
                </a:solidFill>
              </a:defRPr>
            </a:pPr>
            <a:r>
              <a:rPr sz="1200">
                <a:solidFill>
                  <a:srgbClr val="22263A"/>
                </a:solidFill>
              </a:rPr>
              <a:t>WASD scrolls world;</a:t>
            </a:r>
          </a:p>
          <a:p>
            <a:pPr>
              <a:defRPr sz="1200">
                <a:solidFill>
                  <a:srgbClr val="22263A"/>
                </a:solidFill>
              </a:defRPr>
            </a:pPr>
            <a:r>
              <a:rPr sz="1200">
                <a:solidFill>
                  <a:srgbClr val="22263A"/>
                </a:solidFill>
              </a:rPr>
              <a:t>player centered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A0DE80-FD2E-423F-A904-A5A90AA67477}"/>
              </a:ext>
            </a:extLst>
          </p:cNvPr>
          <p:cNvSpPr>
            <a:spLocks noGrp="1"/>
          </p:cNvSpPr>
          <p:nvPr/>
        </p:nvSpPr>
        <p:spPr>
          <a:xfrm>
            <a:off x="8534400" y="26860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C7A96D"/>
                </a:solidFill>
              </a:defRPr>
            </a:pPr>
            <a:r>
              <a:rPr sz="1425" b="1">
                <a:solidFill>
                  <a:srgbClr val="C7A96D"/>
                </a:solidFill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6842728-5DB3-4053-9D76-6523C4681107}"/>
              </a:ext>
            </a:extLst>
          </p:cNvPr>
          <p:cNvSpPr>
            <a:spLocks noGrp="1"/>
          </p:cNvSpPr>
          <p:nvPr/>
        </p:nvSpPr>
        <p:spPr>
          <a:xfrm>
            <a:off x="8534400" y="308610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343B57"/>
                </a:solidFill>
              </a:defRPr>
            </a:pPr>
            <a:r>
              <a:rPr sz="1950" b="1">
                <a:solidFill>
                  <a:srgbClr val="343B57"/>
                </a:solidFill>
              </a:rPr>
              <a:t>FIGHT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2795EC8-59AF-422E-B2EF-FBA2C1594AC9}"/>
              </a:ext>
            </a:extLst>
          </p:cNvPr>
          <p:cNvSpPr>
            <a:spLocks noGrp="1"/>
          </p:cNvSpPr>
          <p:nvPr/>
        </p:nvSpPr>
        <p:spPr>
          <a:xfrm>
            <a:off x="8534400" y="3524250"/>
            <a:ext cx="114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2263A"/>
                </a:solidFill>
              </a:defRPr>
            </a:pPr>
            <a:r>
              <a:rPr sz="1200">
                <a:solidFill>
                  <a:srgbClr val="22263A"/>
                </a:solidFill>
              </a:rPr>
              <a:t>Aim with the mouse</a:t>
            </a:r>
          </a:p>
          <a:p>
            <a:pPr>
              <a:defRPr sz="1200">
                <a:solidFill>
                  <a:srgbClr val="22263A"/>
                </a:solidFill>
              </a:defRPr>
            </a:pPr>
            <a:r>
              <a:rPr sz="1200">
                <a:solidFill>
                  <a:srgbClr val="22263A"/>
                </a:solidFill>
              </a:rPr>
              <a:t>and fire into enemy waves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BE8A610-4BC2-4911-9828-6B5ED5970169}"/>
              </a:ext>
            </a:extLst>
          </p:cNvPr>
          <p:cNvSpPr>
            <a:spLocks noGrp="1"/>
          </p:cNvSpPr>
          <p:nvPr/>
        </p:nvSpPr>
        <p:spPr>
          <a:xfrm>
            <a:off x="9963150" y="2686050"/>
            <a:ext cx="476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 b="1">
                <a:solidFill>
                  <a:srgbClr val="C7A96D"/>
                </a:solidFill>
              </a:defRPr>
            </a:pPr>
            <a:r>
              <a:rPr sz="1425" b="1">
                <a:solidFill>
                  <a:srgbClr val="C7A96D"/>
                </a:solidFill>
              </a:rPr>
              <a:t>03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780A9E4-AC76-4E6D-B52E-7895A3D49E0A}"/>
              </a:ext>
            </a:extLst>
          </p:cNvPr>
          <p:cNvSpPr>
            <a:spLocks noGrp="1"/>
          </p:cNvSpPr>
          <p:nvPr/>
        </p:nvSpPr>
        <p:spPr>
          <a:xfrm>
            <a:off x="9963150" y="3086100"/>
            <a:ext cx="1143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343B57"/>
                </a:solidFill>
              </a:defRPr>
            </a:pPr>
            <a:r>
              <a:rPr sz="1950" b="1">
                <a:solidFill>
                  <a:srgbClr val="343B57"/>
                </a:solidFill>
              </a:rPr>
              <a:t>BUILD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A88589C-9C48-4F78-82F3-9FE9F80A7D77}"/>
              </a:ext>
            </a:extLst>
          </p:cNvPr>
          <p:cNvSpPr>
            <a:spLocks noGrp="1"/>
          </p:cNvSpPr>
          <p:nvPr/>
        </p:nvSpPr>
        <p:spPr>
          <a:xfrm>
            <a:off x="9963150" y="3524250"/>
            <a:ext cx="1143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2263A"/>
                </a:solidFill>
              </a:defRPr>
            </a:pPr>
            <a:r>
              <a:rPr sz="1200">
                <a:solidFill>
                  <a:srgbClr val="22263A"/>
                </a:solidFill>
              </a:rPr>
              <a:t>Kills grant XP;</a:t>
            </a:r>
          </a:p>
          <a:p>
            <a:pPr>
              <a:defRPr sz="1200">
                <a:solidFill>
                  <a:srgbClr val="22263A"/>
                </a:solidFill>
              </a:defRPr>
            </a:pPr>
            <a:r>
              <a:rPr sz="1200">
                <a:solidFill>
                  <a:srgbClr val="22263A"/>
                </a:solidFill>
              </a:rPr>
              <a:t>level-ups offer random cards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17F5F45-1179-44F8-B0A1-95ABB070BCD6}"/>
              </a:ext>
            </a:extLst>
          </p:cNvPr>
          <p:cNvSpPr>
            <a:spLocks noGrp="1"/>
          </p:cNvSpPr>
          <p:nvPr/>
        </p:nvSpPr>
        <p:spPr>
          <a:xfrm>
            <a:off x="7105650" y="4533900"/>
            <a:ext cx="3857625" cy="28575"/>
          </a:xfrm>
          <a:prstGeom prst="rect">
            <a:avLst/>
          </a:prstGeom>
          <a:solidFill>
            <a:srgbClr val="D4A09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8A0C0C3-A036-4DE3-BD74-6E18A6D3D2F0}"/>
              </a:ext>
            </a:extLst>
          </p:cNvPr>
          <p:cNvSpPr>
            <a:spLocks noGrp="1"/>
          </p:cNvSpPr>
          <p:nvPr/>
        </p:nvSpPr>
        <p:spPr>
          <a:xfrm>
            <a:off x="7105650" y="4810125"/>
            <a:ext cx="371475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343B57"/>
                </a:solidFill>
              </a:defRPr>
            </a:pPr>
            <a:r>
              <a:rPr sz="1650" b="1">
                <a:solidFill>
                  <a:srgbClr val="343B57"/>
                </a:solidFill>
              </a:rPr>
              <a:t>Each run changes with the tile map, enemy composition, weapon state, and card choices.</a:t>
            </a:r>
          </a:p>
        </p:txBody>
      </p:sp>
    </p:spTree>
    <p:extLst>
      <p:ext uri="{BB962C8B-B14F-4D97-AF65-F5344CB8AC3E}">
        <p14:creationId xmlns:p14="http://schemas.microsoft.com/office/powerpoint/2010/main" val="9070577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731E8963-A87F-431B-AC09-5C6E8238EA72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28575"/>
          </a:xfrm>
          <a:prstGeom prst="rect">
            <a:avLst/>
          </a:prstGeom>
          <a:solidFill>
            <a:srgbClr val="C7A96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F8E467C-6958-40FE-A5CC-14620081DEA1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43B57"/>
                </a:solidFill>
              </a:defRPr>
            </a:pPr>
            <a:r>
              <a:rPr sz="1050" b="1" dirty="0">
                <a:solidFill>
                  <a:srgbClr val="343B57"/>
                </a:solidFill>
              </a:rPr>
              <a:t>0</a:t>
            </a:r>
            <a:r>
              <a:rPr lang="en-GB" sz="1050" b="1" dirty="0">
                <a:solidFill>
                  <a:srgbClr val="343B57"/>
                </a:solidFill>
              </a:rPr>
              <a:t>2</a:t>
            </a:r>
            <a:r>
              <a:rPr sz="1050" b="1" dirty="0">
                <a:solidFill>
                  <a:srgbClr val="343B57"/>
                </a:solidFill>
              </a:rPr>
              <a:t>  |  COLLABORATION &amp; ASSET MANAGEMENT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81EC5D-AE92-483A-B96E-2AD91878C4BF}"/>
              </a:ext>
            </a:extLst>
          </p:cNvPr>
          <p:cNvSpPr>
            <a:spLocks noGrp="1"/>
          </p:cNvSpPr>
          <p:nvPr/>
        </p:nvSpPr>
        <p:spPr>
          <a:xfrm>
            <a:off x="10839450" y="63055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C7A96D"/>
                </a:solidFill>
              </a:defRPr>
            </a:pPr>
            <a:r>
              <a:rPr lang="en-GB" sz="1200" b="1" dirty="0">
                <a:solidFill>
                  <a:srgbClr val="C7A96D"/>
                </a:solidFill>
              </a:rPr>
              <a:t>04</a:t>
            </a:r>
            <a:endParaRPr sz="1200" b="1" dirty="0">
              <a:solidFill>
                <a:srgbClr val="C7A96D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7CC6F6-3558-420A-8E9A-6C6878CD9608}"/>
              </a:ext>
            </a:extLst>
          </p:cNvPr>
          <p:cNvSpPr>
            <a:spLocks noGrp="1"/>
          </p:cNvSpPr>
          <p:nvPr/>
        </p:nvSpPr>
        <p:spPr>
          <a:xfrm>
            <a:off x="685800" y="695325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C7A96D"/>
                </a:solidFill>
              </a:defRPr>
            </a:pPr>
            <a:r>
              <a:rPr sz="1125" b="1">
                <a:solidFill>
                  <a:srgbClr val="C7A96D"/>
                </a:solidFill>
              </a:rPr>
              <a:t>COLLABORATION: GITHUB FOR CODE AND GAME ASSETS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8E1A038-0E0B-4993-B786-4E93BD49B042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343B57"/>
                </a:solidFill>
              </a:defRPr>
            </a:pPr>
            <a:r>
              <a:rPr sz="3150" b="1">
                <a:solidFill>
                  <a:srgbClr val="343B57"/>
                </a:solidFill>
              </a:rPr>
              <a:t>GitHub Keeps Code and Art in Sync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693DD1-D00F-424E-BAB0-35DA90A1BED5}"/>
              </a:ext>
            </a:extLst>
          </p:cNvPr>
          <p:cNvSpPr>
            <a:spLocks noGrp="1"/>
          </p:cNvSpPr>
          <p:nvPr/>
        </p:nvSpPr>
        <p:spPr>
          <a:xfrm>
            <a:off x="685800" y="1685925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22263A"/>
                </a:solidFill>
              </a:defRPr>
            </a:pPr>
            <a:r>
              <a:rPr sz="1500">
                <a:solidFill>
                  <a:srgbClr val="22263A"/>
                </a:solidFill>
              </a:rPr>
              <a:t>The repository puts scripts, player art, monsters, weapons, tiles, walls, and audio in one traceable workflow.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2B02E2B-1BC2-474B-B091-926C79712D81}"/>
              </a:ext>
            </a:extLst>
          </p:cNvPr>
          <p:cNvSpPr>
            <a:spLocks noGrp="1"/>
          </p:cNvSpPr>
          <p:nvPr/>
        </p:nvSpPr>
        <p:spPr>
          <a:xfrm>
            <a:off x="685800" y="2533650"/>
            <a:ext cx="10820400" cy="2400300"/>
          </a:xfrm>
          <a:prstGeom prst="roundRect">
            <a:avLst>
              <a:gd name="adj" fmla="val 3175"/>
            </a:avLst>
          </a:prstGeom>
          <a:solidFill>
            <a:srgbClr val="343B57"/>
          </a:solidFill>
          <a:ln w="0">
            <a:solidFill>
              <a:srgbClr val="343B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F696EF3-6300-4D15-8EB6-FDCE62426EAF}"/>
              </a:ext>
            </a:extLst>
          </p:cNvPr>
          <p:cNvSpPr>
            <a:spLocks noGrp="1"/>
          </p:cNvSpPr>
          <p:nvPr/>
        </p:nvSpPr>
        <p:spPr>
          <a:xfrm>
            <a:off x="1066800" y="2952750"/>
            <a:ext cx="7810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F0EDE3"/>
                </a:solidFill>
              </a:defRPr>
            </a:pPr>
            <a:r>
              <a:rPr sz="1950" b="1">
                <a:solidFill>
                  <a:srgbClr val="F0EDE3"/>
                </a:solidFill>
              </a:rPr>
              <a:t>StoreManager-Riddle / SourceAcademyProject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35B0B87-B2B2-43C5-BC60-FF12A92016C1}"/>
              </a:ext>
            </a:extLst>
          </p:cNvPr>
          <p:cNvSpPr>
            <a:spLocks noGrp="1"/>
          </p:cNvSpPr>
          <p:nvPr/>
        </p:nvSpPr>
        <p:spPr>
          <a:xfrm>
            <a:off x="1066800" y="3524250"/>
            <a:ext cx="8096250" cy="28575"/>
          </a:xfrm>
          <a:prstGeom prst="rect">
            <a:avLst/>
          </a:prstGeom>
          <a:solidFill>
            <a:srgbClr val="C7A96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9322D71-9A26-4448-BC13-E2F5AB26E353}"/>
              </a:ext>
            </a:extLst>
          </p:cNvPr>
          <p:cNvSpPr>
            <a:spLocks noGrp="1"/>
          </p:cNvSpPr>
          <p:nvPr/>
        </p:nvSpPr>
        <p:spPr>
          <a:xfrm>
            <a:off x="1066800" y="3924300"/>
            <a:ext cx="1543050" cy="247650"/>
          </a:xfrm>
          <a:prstGeom prst="roundRect">
            <a:avLst>
              <a:gd name="adj" fmla="val 15385"/>
            </a:avLst>
          </a:prstGeom>
          <a:solidFill>
            <a:srgbClr val="D4A097"/>
          </a:solidFill>
          <a:ln w="0">
            <a:solidFill>
              <a:srgbClr val="D4A09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B8BA5DA-B849-45C3-8990-230CE2997F29}"/>
              </a:ext>
            </a:extLst>
          </p:cNvPr>
          <p:cNvSpPr>
            <a:spLocks noGrp="1"/>
          </p:cNvSpPr>
          <p:nvPr/>
        </p:nvSpPr>
        <p:spPr>
          <a:xfrm>
            <a:off x="1162050" y="3962400"/>
            <a:ext cx="1352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343B57"/>
                </a:solidFill>
              </a:defRPr>
            </a:pPr>
            <a:r>
              <a:rPr sz="975" b="1">
                <a:solidFill>
                  <a:srgbClr val="343B57"/>
                </a:solidFill>
              </a:rPr>
              <a:t>script_3.1.txt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B51EA5E6-8A46-4792-8613-CFF02D833400}"/>
              </a:ext>
            </a:extLst>
          </p:cNvPr>
          <p:cNvSpPr>
            <a:spLocks noGrp="1"/>
          </p:cNvSpPr>
          <p:nvPr/>
        </p:nvSpPr>
        <p:spPr>
          <a:xfrm>
            <a:off x="2876550" y="3924300"/>
            <a:ext cx="1543050" cy="247650"/>
          </a:xfrm>
          <a:prstGeom prst="roundRect">
            <a:avLst>
              <a:gd name="adj" fmla="val 15385"/>
            </a:avLst>
          </a:prstGeom>
          <a:solidFill>
            <a:srgbClr val="C7A96D"/>
          </a:solidFill>
          <a:ln w="0">
            <a:solidFill>
              <a:srgbClr val="C7A9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5A722A7-DDA3-4E28-9937-C1DF5C2DBE86}"/>
              </a:ext>
            </a:extLst>
          </p:cNvPr>
          <p:cNvSpPr>
            <a:spLocks noGrp="1"/>
          </p:cNvSpPr>
          <p:nvPr/>
        </p:nvSpPr>
        <p:spPr>
          <a:xfrm>
            <a:off x="2971800" y="3962400"/>
            <a:ext cx="1352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343B57"/>
                </a:solidFill>
              </a:defRPr>
            </a:pPr>
            <a:r>
              <a:rPr sz="975" b="1">
                <a:solidFill>
                  <a:srgbClr val="343B57"/>
                </a:solidFill>
              </a:rPr>
              <a:t>monster/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3F4BA3ED-600E-4581-893A-AFF1404B09EE}"/>
              </a:ext>
            </a:extLst>
          </p:cNvPr>
          <p:cNvSpPr>
            <a:spLocks noGrp="1"/>
          </p:cNvSpPr>
          <p:nvPr/>
        </p:nvSpPr>
        <p:spPr>
          <a:xfrm>
            <a:off x="4686300" y="3924300"/>
            <a:ext cx="1543050" cy="247650"/>
          </a:xfrm>
          <a:prstGeom prst="roundRect">
            <a:avLst>
              <a:gd name="adj" fmla="val 15385"/>
            </a:avLst>
          </a:prstGeom>
          <a:solidFill>
            <a:srgbClr val="C7A96D"/>
          </a:solidFill>
          <a:ln w="0">
            <a:solidFill>
              <a:srgbClr val="C7A9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A350B08-DAC5-41E8-9AD3-3D058B1F656A}"/>
              </a:ext>
            </a:extLst>
          </p:cNvPr>
          <p:cNvSpPr>
            <a:spLocks noGrp="1"/>
          </p:cNvSpPr>
          <p:nvPr/>
        </p:nvSpPr>
        <p:spPr>
          <a:xfrm>
            <a:off x="4781550" y="3962400"/>
            <a:ext cx="1352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343B57"/>
                </a:solidFill>
              </a:defRPr>
            </a:pPr>
            <a:r>
              <a:rPr sz="975" b="1">
                <a:solidFill>
                  <a:srgbClr val="343B57"/>
                </a:solidFill>
              </a:rPr>
              <a:t>gun assets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01A8D9A-C346-4BBA-9978-C5324CC1860C}"/>
              </a:ext>
            </a:extLst>
          </p:cNvPr>
          <p:cNvSpPr>
            <a:spLocks noGrp="1"/>
          </p:cNvSpPr>
          <p:nvPr/>
        </p:nvSpPr>
        <p:spPr>
          <a:xfrm>
            <a:off x="6496050" y="3924300"/>
            <a:ext cx="1543050" cy="247650"/>
          </a:xfrm>
          <a:prstGeom prst="roundRect">
            <a:avLst>
              <a:gd name="adj" fmla="val 15385"/>
            </a:avLst>
          </a:prstGeom>
          <a:solidFill>
            <a:srgbClr val="C7A96D"/>
          </a:solidFill>
          <a:ln w="0">
            <a:solidFill>
              <a:srgbClr val="C7A9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7D31C48-21E0-4426-ACB7-A7F10BF57DC7}"/>
              </a:ext>
            </a:extLst>
          </p:cNvPr>
          <p:cNvSpPr>
            <a:spLocks noGrp="1"/>
          </p:cNvSpPr>
          <p:nvPr/>
        </p:nvSpPr>
        <p:spPr>
          <a:xfrm>
            <a:off x="6591300" y="3962400"/>
            <a:ext cx="1352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343B57"/>
                </a:solidFill>
              </a:defRPr>
            </a:pPr>
            <a:r>
              <a:rPr sz="975" b="1">
                <a:solidFill>
                  <a:srgbClr val="343B57"/>
                </a:solidFill>
              </a:rPr>
              <a:t>tiles &amp; floor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1C86C73C-6FE6-4CF8-AE72-BCDF876AA898}"/>
              </a:ext>
            </a:extLst>
          </p:cNvPr>
          <p:cNvSpPr>
            <a:spLocks noGrp="1"/>
          </p:cNvSpPr>
          <p:nvPr/>
        </p:nvSpPr>
        <p:spPr>
          <a:xfrm>
            <a:off x="8305800" y="3924300"/>
            <a:ext cx="1543050" cy="247650"/>
          </a:xfrm>
          <a:prstGeom prst="roundRect">
            <a:avLst>
              <a:gd name="adj" fmla="val 15385"/>
            </a:avLst>
          </a:prstGeom>
          <a:solidFill>
            <a:srgbClr val="C7A96D"/>
          </a:solidFill>
          <a:ln w="0">
            <a:solidFill>
              <a:srgbClr val="C7A96D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8B629D7-0922-48D4-879A-194C5F5E1E49}"/>
              </a:ext>
            </a:extLst>
          </p:cNvPr>
          <p:cNvSpPr>
            <a:spLocks noGrp="1"/>
          </p:cNvSpPr>
          <p:nvPr/>
        </p:nvSpPr>
        <p:spPr>
          <a:xfrm>
            <a:off x="8401050" y="3962400"/>
            <a:ext cx="13525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343B57"/>
                </a:solidFill>
              </a:defRPr>
            </a:pPr>
            <a:r>
              <a:rPr sz="975" b="1">
                <a:solidFill>
                  <a:srgbClr val="343B57"/>
                </a:solidFill>
              </a:rPr>
              <a:t>audio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A113572-9E62-49C8-9DCF-9059CAFEEF3D}"/>
              </a:ext>
            </a:extLst>
          </p:cNvPr>
          <p:cNvSpPr>
            <a:spLocks noGrp="1"/>
          </p:cNvSpPr>
          <p:nvPr/>
        </p:nvSpPr>
        <p:spPr>
          <a:xfrm>
            <a:off x="1066800" y="4343400"/>
            <a:ext cx="8572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Sprite assets are loaded from raw.githubusercontent.com paths in the code. Team members can update assets, sync scripts, and retain version history.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5DD7078-A3A5-4273-967A-A989B78C31D2}"/>
              </a:ext>
            </a:extLst>
          </p:cNvPr>
          <p:cNvSpPr>
            <a:spLocks noGrp="1"/>
          </p:cNvSpPr>
          <p:nvPr/>
        </p:nvSpPr>
        <p:spPr>
          <a:xfrm>
            <a:off x="685800" y="5372100"/>
            <a:ext cx="8667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2263A"/>
                </a:solidFill>
              </a:defRPr>
            </a:pPr>
            <a:r>
              <a:rPr sz="1200">
                <a:solidFill>
                  <a:srgbClr val="22263A"/>
                </a:solidFill>
              </a:rPr>
              <a:t>Repository HEAD verified: 03693e4cde60b4bde2d1613b18a6eac31e2f311b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C56C8D6-A3E7-4AC8-A91A-8F53C17543CD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8096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75" b="1">
                <a:solidFill>
                  <a:srgbClr val="343B57"/>
                </a:solidFill>
              </a:defRPr>
            </a:pPr>
            <a:r>
              <a:rPr sz="1575" b="1">
                <a:solidFill>
                  <a:srgbClr val="343B57"/>
                </a:solidFill>
              </a:rPr>
              <a:t>Result: consistent asset references, traceable changes, and a reproducible exhibition build.</a:t>
            </a:r>
          </a:p>
        </p:txBody>
      </p:sp>
    </p:spTree>
    <p:extLst>
      <p:ext uri="{BB962C8B-B14F-4D97-AF65-F5344CB8AC3E}">
        <p14:creationId xmlns:p14="http://schemas.microsoft.com/office/powerpoint/2010/main" val="951621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8499E3B3-64E1-4BD7-9E9B-A89B739C4288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28575"/>
          </a:xfrm>
          <a:prstGeom prst="rect">
            <a:avLst/>
          </a:prstGeom>
          <a:solidFill>
            <a:srgbClr val="C7A96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A73BCE2-F60B-4E6C-A34A-6AA727CFF805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43B57"/>
                </a:solidFill>
              </a:defRPr>
            </a:pPr>
            <a:r>
              <a:rPr sz="1050" b="1" dirty="0">
                <a:solidFill>
                  <a:srgbClr val="343B57"/>
                </a:solidFill>
              </a:rPr>
              <a:t>0</a:t>
            </a:r>
            <a:r>
              <a:rPr lang="en-GB" sz="1050" b="1" dirty="0">
                <a:solidFill>
                  <a:srgbClr val="343B57"/>
                </a:solidFill>
              </a:rPr>
              <a:t>3</a:t>
            </a:r>
            <a:r>
              <a:rPr sz="1050" b="1" dirty="0">
                <a:solidFill>
                  <a:srgbClr val="343B57"/>
                </a:solidFill>
              </a:rPr>
              <a:t>  |  RUNTIME LOGIC - CAMERA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DFF4C17-223F-4D36-BBA7-4F7BA0559EFD}"/>
              </a:ext>
            </a:extLst>
          </p:cNvPr>
          <p:cNvSpPr>
            <a:spLocks noGrp="1"/>
          </p:cNvSpPr>
          <p:nvPr/>
        </p:nvSpPr>
        <p:spPr>
          <a:xfrm>
            <a:off x="10839450" y="63055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C7A96D"/>
                </a:solidFill>
              </a:defRPr>
            </a:pPr>
            <a:r>
              <a:rPr lang="en-GB" sz="1200" b="1" dirty="0">
                <a:solidFill>
                  <a:srgbClr val="C7A96D"/>
                </a:solidFill>
              </a:rPr>
              <a:t>05</a:t>
            </a:r>
            <a:endParaRPr sz="1200" b="1" dirty="0">
              <a:solidFill>
                <a:srgbClr val="C7A96D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3139CC-642C-4DDC-BD29-01FB097779B6}"/>
              </a:ext>
            </a:extLst>
          </p:cNvPr>
          <p:cNvSpPr>
            <a:spLocks noGrp="1"/>
          </p:cNvSpPr>
          <p:nvPr/>
        </p:nvSpPr>
        <p:spPr>
          <a:xfrm>
            <a:off x="685800" y="695325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C7A96D"/>
                </a:solidFill>
              </a:defRPr>
            </a:pPr>
            <a:r>
              <a:rPr sz="1125" b="1">
                <a:solidFill>
                  <a:srgbClr val="C7A96D"/>
                </a:solidFill>
              </a:rPr>
              <a:t>CAMERA: KEEP THE PLAYER CENTERED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736EAC-83B4-48E7-8409-369562822478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343B57"/>
                </a:solidFill>
              </a:defRPr>
            </a:pPr>
            <a:r>
              <a:rPr sz="3150" b="1">
                <a:solidFill>
                  <a:srgbClr val="343B57"/>
                </a:solidFill>
              </a:rPr>
              <a:t>Fixed Player, Moving World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657CB26-74A5-4503-9CB1-061373224BD3}"/>
              </a:ext>
            </a:extLst>
          </p:cNvPr>
          <p:cNvSpPr>
            <a:spLocks noGrp="1"/>
          </p:cNvSpPr>
          <p:nvPr/>
        </p:nvSpPr>
        <p:spPr>
          <a:xfrm>
            <a:off x="685800" y="1685925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22263A"/>
                </a:solidFill>
              </a:defRPr>
            </a:pPr>
            <a:r>
              <a:rPr sz="1500">
                <a:solidFill>
                  <a:srgbClr val="22263A"/>
                </a:solidFill>
              </a:rPr>
              <a:t>The player is a visual anchor at screen center; input updates map coordinates while tiles, enemies, rewards, and projectiles shift in the opposite direction.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489BE153-9692-4726-A4DA-9256450D59D1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10820400" cy="2533650"/>
          </a:xfrm>
          <a:prstGeom prst="roundRect">
            <a:avLst>
              <a:gd name="adj" fmla="val 3008"/>
            </a:avLst>
          </a:prstGeom>
          <a:solidFill>
            <a:srgbClr val="FFFFFF"/>
          </a:solidFill>
          <a:ln w="9525">
            <a:solidFill>
              <a:srgbClr val="CAD1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8417898-9D91-477F-B6BA-534B13202965}"/>
              </a:ext>
            </a:extLst>
          </p:cNvPr>
          <p:cNvSpPr>
            <a:spLocks noGrp="1"/>
          </p:cNvSpPr>
          <p:nvPr/>
        </p:nvSpPr>
        <p:spPr>
          <a:xfrm>
            <a:off x="1123950" y="2952750"/>
            <a:ext cx="2324100" cy="1428750"/>
          </a:xfrm>
          <a:prstGeom prst="roundRect">
            <a:avLst>
              <a:gd name="adj" fmla="val 4000"/>
            </a:avLst>
          </a:prstGeom>
          <a:solidFill>
            <a:srgbClr val="E8E5DA"/>
          </a:solidFill>
          <a:ln w="9525">
            <a:solidFill>
              <a:srgbClr val="CAD1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D7A43E8-4DE9-4EA6-A8E8-84EA1CCA682A}"/>
              </a:ext>
            </a:extLst>
          </p:cNvPr>
          <p:cNvSpPr>
            <a:spLocks noGrp="1"/>
          </p:cNvSpPr>
          <p:nvPr/>
        </p:nvSpPr>
        <p:spPr>
          <a:xfrm>
            <a:off x="1619250" y="3333750"/>
            <a:ext cx="1428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343B57"/>
                </a:solidFill>
              </a:defRPr>
            </a:pPr>
            <a:r>
              <a:rPr sz="2100" b="1">
                <a:solidFill>
                  <a:srgbClr val="343B57"/>
                </a:solidFill>
              </a:rPr>
              <a:t>INPUT</a:t>
            </a:r>
          </a:p>
          <a:p>
            <a:pPr algn="ctr">
              <a:defRPr sz="2100" b="1">
                <a:solidFill>
                  <a:srgbClr val="343B57"/>
                </a:solidFill>
              </a:defRPr>
            </a:pPr>
            <a:r>
              <a:rPr sz="2100" b="1">
                <a:solidFill>
                  <a:srgbClr val="343B57"/>
                </a:solidFill>
              </a:rPr>
              <a:t>dx / dy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A752B31-6A0A-4280-94D4-8753303E776E}"/>
              </a:ext>
            </a:extLst>
          </p:cNvPr>
          <p:cNvSpPr>
            <a:spLocks noGrp="1"/>
          </p:cNvSpPr>
          <p:nvPr/>
        </p:nvSpPr>
        <p:spPr>
          <a:xfrm>
            <a:off x="4352925" y="2952750"/>
            <a:ext cx="2324100" cy="1428750"/>
          </a:xfrm>
          <a:prstGeom prst="roundRect">
            <a:avLst>
              <a:gd name="adj" fmla="val 4000"/>
            </a:avLst>
          </a:prstGeom>
          <a:solidFill>
            <a:srgbClr val="343B57"/>
          </a:solidFill>
          <a:ln w="0">
            <a:solidFill>
              <a:srgbClr val="343B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105400" y="3114675"/>
            <a:ext cx="762000" cy="762000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8DA65B3-9E45-4215-A662-C2E9362284F1}"/>
              </a:ext>
            </a:extLst>
          </p:cNvPr>
          <p:cNvSpPr>
            <a:spLocks noGrp="1"/>
          </p:cNvSpPr>
          <p:nvPr/>
        </p:nvSpPr>
        <p:spPr>
          <a:xfrm>
            <a:off x="4476750" y="40386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0EDE3"/>
                </a:solidFill>
              </a:defRPr>
            </a:pPr>
            <a:r>
              <a:rPr sz="1200" b="1">
                <a:solidFill>
                  <a:srgbClr val="F0EDE3"/>
                </a:solidFill>
              </a:rPr>
              <a:t>PLAYER AT CENTER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235C64AB-406C-46EE-A5A9-70808C8D2380}"/>
              </a:ext>
            </a:extLst>
          </p:cNvPr>
          <p:cNvSpPr>
            <a:spLocks noGrp="1"/>
          </p:cNvSpPr>
          <p:nvPr/>
        </p:nvSpPr>
        <p:spPr>
          <a:xfrm>
            <a:off x="7581900" y="2952750"/>
            <a:ext cx="2952750" cy="1428750"/>
          </a:xfrm>
          <a:prstGeom prst="roundRect">
            <a:avLst>
              <a:gd name="adj" fmla="val 4000"/>
            </a:avLst>
          </a:prstGeom>
          <a:solidFill>
            <a:srgbClr val="E8E5DA"/>
          </a:solidFill>
          <a:ln w="9525">
            <a:solidFill>
              <a:srgbClr val="CAD1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6816EA0-B6CF-4EB9-B3D3-E313C373D92E}"/>
              </a:ext>
            </a:extLst>
          </p:cNvPr>
          <p:cNvSpPr>
            <a:spLocks noGrp="1"/>
          </p:cNvSpPr>
          <p:nvPr/>
        </p:nvSpPr>
        <p:spPr>
          <a:xfrm>
            <a:off x="7772400" y="3143250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75" b="1">
                <a:solidFill>
                  <a:srgbClr val="343B57"/>
                </a:solidFill>
              </a:defRPr>
            </a:pPr>
            <a:r>
              <a:rPr sz="1575" b="1">
                <a:solidFill>
                  <a:srgbClr val="343B57"/>
                </a:solidFill>
              </a:rPr>
              <a:t>WORLD OBJECTS MOVE</a:t>
            </a:r>
          </a:p>
          <a:p>
            <a:pPr algn="ctr">
              <a:defRPr sz="1575" b="1">
                <a:solidFill>
                  <a:srgbClr val="343B57"/>
                </a:solidFill>
              </a:defRPr>
            </a:pPr>
            <a:r>
              <a:rPr sz="1575" b="1">
                <a:solidFill>
                  <a:srgbClr val="343B57"/>
                </a:solidFill>
              </a:rPr>
              <a:t>IN THE OPPOSITE DIRECTION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0A32500-388C-4CC8-B2EC-8E9B786E060F}"/>
              </a:ext>
            </a:extLst>
          </p:cNvPr>
          <p:cNvSpPr>
            <a:spLocks noGrp="1"/>
          </p:cNvSpPr>
          <p:nvPr/>
        </p:nvSpPr>
        <p:spPr>
          <a:xfrm>
            <a:off x="7905750" y="3752850"/>
            <a:ext cx="2324100" cy="4476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>
                <a:solidFill>
                  <a:srgbClr val="22263A"/>
                </a:solidFill>
              </a:defRPr>
            </a:pPr>
            <a:r>
              <a:rPr sz="1350">
                <a:solidFill>
                  <a:srgbClr val="22263A"/>
                </a:solidFill>
              </a:rPr>
              <a:t>tile_sprites  /  enemies</a:t>
            </a:r>
          </a:p>
          <a:p>
            <a:pPr algn="ctr">
              <a:defRPr sz="1350">
                <a:solidFill>
                  <a:srgbClr val="22263A"/>
                </a:solidFill>
              </a:defRPr>
            </a:pPr>
            <a:r>
              <a:rPr sz="1350">
                <a:solidFill>
                  <a:srgbClr val="22263A"/>
                </a:solidFill>
              </a:rPr>
              <a:t>rewards  /  enemy bullets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EF45A40E-44C3-465D-B104-ADDAAFCAF77D}"/>
              </a:ext>
            </a:extLst>
          </p:cNvPr>
          <p:cNvSpPr>
            <a:spLocks noGrp="1"/>
          </p:cNvSpPr>
          <p:nvPr/>
        </p:nvSpPr>
        <p:spPr>
          <a:xfrm>
            <a:off x="3448050" y="3638550"/>
            <a:ext cx="904875" cy="28575"/>
          </a:xfrm>
          <a:prstGeom prst="rect">
            <a:avLst/>
          </a:prstGeom>
          <a:solidFill>
            <a:srgbClr val="D4A09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44EFB66-68B1-46E8-AFA3-89A2E1423D45}"/>
              </a:ext>
            </a:extLst>
          </p:cNvPr>
          <p:cNvSpPr>
            <a:spLocks noGrp="1"/>
          </p:cNvSpPr>
          <p:nvPr/>
        </p:nvSpPr>
        <p:spPr>
          <a:xfrm>
            <a:off x="6677025" y="3638550"/>
            <a:ext cx="904875" cy="28575"/>
          </a:xfrm>
          <a:prstGeom prst="rect">
            <a:avLst/>
          </a:prstGeom>
          <a:solidFill>
            <a:srgbClr val="D4A09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7DFFC1A-0EEF-45E4-A261-2AD6EDD11A3E}"/>
              </a:ext>
            </a:extLst>
          </p:cNvPr>
          <p:cNvSpPr>
            <a:spLocks noGrp="1"/>
          </p:cNvSpPr>
          <p:nvPr/>
        </p:nvSpPr>
        <p:spPr>
          <a:xfrm>
            <a:off x="1771650" y="5276850"/>
            <a:ext cx="6858000" cy="885825"/>
          </a:xfrm>
          <a:prstGeom prst="roundRect">
            <a:avLst>
              <a:gd name="adj" fmla="val 6452"/>
            </a:avLst>
          </a:prstGeom>
          <a:solidFill>
            <a:srgbClr val="22263A"/>
          </a:solidFill>
          <a:ln w="0">
            <a:solidFill>
              <a:srgbClr val="2226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F80D12E-4CD7-4B81-81F8-A09F988B455A}"/>
              </a:ext>
            </a:extLst>
          </p:cNvPr>
          <p:cNvSpPr>
            <a:spLocks noGrp="1"/>
          </p:cNvSpPr>
          <p:nvPr/>
        </p:nvSpPr>
        <p:spPr>
          <a:xfrm>
            <a:off x="1981200" y="5429250"/>
            <a:ext cx="6438900" cy="619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player_map_px = player_map_px + dx</a:t>
            </a:r>
          </a:p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world_object.x = world_object.x - dx</a:t>
            </a:r>
          </a:p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enemy.update_map_offset(dx, 0)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A7552950-2ED1-43F3-B031-BBB69264CDD7}"/>
              </a:ext>
            </a:extLst>
          </p:cNvPr>
          <p:cNvSpPr>
            <a:spLocks noGrp="1"/>
          </p:cNvSpPr>
          <p:nvPr/>
        </p:nvSpPr>
        <p:spPr>
          <a:xfrm>
            <a:off x="8934450" y="5238750"/>
            <a:ext cx="21907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2263A"/>
                </a:solidFill>
              </a:defRPr>
            </a:pPr>
            <a:r>
              <a:rPr sz="1275">
                <a:solidFill>
                  <a:srgbClr val="22263A"/>
                </a:solidFill>
              </a:rPr>
              <a:t>Why it works: the player remains readable, while boundaries and collision checks stay in map-space coordinates.</a:t>
            </a:r>
          </a:p>
        </p:txBody>
      </p:sp>
    </p:spTree>
    <p:extLst>
      <p:ext uri="{BB962C8B-B14F-4D97-AF65-F5344CB8AC3E}">
        <p14:creationId xmlns:p14="http://schemas.microsoft.com/office/powerpoint/2010/main" val="185981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7E4F8359-2F6B-4DFA-8C25-16641D2B3B8F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28575"/>
          </a:xfrm>
          <a:prstGeom prst="rect">
            <a:avLst/>
          </a:prstGeom>
          <a:solidFill>
            <a:srgbClr val="C7A96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3A93289-E6B2-479D-8AAB-7911F6F45BD3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43B57"/>
                </a:solidFill>
              </a:defRPr>
            </a:pPr>
            <a:r>
              <a:rPr sz="1050" b="1" dirty="0">
                <a:solidFill>
                  <a:srgbClr val="343B57"/>
                </a:solidFill>
              </a:rPr>
              <a:t>0</a:t>
            </a:r>
            <a:r>
              <a:rPr lang="en-GB" sz="1050" b="1" dirty="0">
                <a:solidFill>
                  <a:srgbClr val="343B57"/>
                </a:solidFill>
              </a:rPr>
              <a:t>3</a:t>
            </a:r>
            <a:r>
              <a:rPr sz="1050" b="1" dirty="0">
                <a:solidFill>
                  <a:srgbClr val="343B57"/>
                </a:solidFill>
              </a:rPr>
              <a:t> |  RUNTIME LOGIC - PLAYER / GUN / BULLET POOL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EF1AF7D-396A-434B-9EAB-AD00FA431607}"/>
              </a:ext>
            </a:extLst>
          </p:cNvPr>
          <p:cNvSpPr>
            <a:spLocks noGrp="1"/>
          </p:cNvSpPr>
          <p:nvPr/>
        </p:nvSpPr>
        <p:spPr>
          <a:xfrm>
            <a:off x="10839450" y="63055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C7A96D"/>
                </a:solidFill>
              </a:defRPr>
            </a:pPr>
            <a:r>
              <a:rPr sz="1200" b="1" dirty="0">
                <a:solidFill>
                  <a:srgbClr val="C7A96D"/>
                </a:solidFill>
              </a:rPr>
              <a:t>0</a:t>
            </a:r>
            <a:r>
              <a:rPr lang="en-GB" sz="1200" b="1" dirty="0">
                <a:solidFill>
                  <a:srgbClr val="C7A96D"/>
                </a:solidFill>
              </a:rPr>
              <a:t>6</a:t>
            </a:r>
            <a:endParaRPr sz="1200" b="1" dirty="0">
              <a:solidFill>
                <a:srgbClr val="C7A96D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4856FD9-C53A-4BBE-90E1-4B2B1B512A2D}"/>
              </a:ext>
            </a:extLst>
          </p:cNvPr>
          <p:cNvSpPr>
            <a:spLocks noGrp="1"/>
          </p:cNvSpPr>
          <p:nvPr/>
        </p:nvSpPr>
        <p:spPr>
          <a:xfrm>
            <a:off x="685800" y="695325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C7A96D"/>
                </a:solidFill>
              </a:defRPr>
            </a:pPr>
            <a:r>
              <a:rPr sz="1125" b="1">
                <a:solidFill>
                  <a:srgbClr val="C7A96D"/>
                </a:solidFill>
              </a:rPr>
              <a:t>PLAYER &amp; WEAPONS: AIM, FIRE, REUSE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D1B7E38-B362-4596-8D07-2D00AC327D34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343B57"/>
                </a:solidFill>
              </a:defRPr>
            </a:pPr>
            <a:r>
              <a:rPr sz="3150" b="1">
                <a:solidFill>
                  <a:srgbClr val="343B57"/>
                </a:solidFill>
              </a:rPr>
              <a:t>Pointer Aim Meets a Bullet Pool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D588966-015A-4340-BDC9-BB68E9FB1B25}"/>
              </a:ext>
            </a:extLst>
          </p:cNvPr>
          <p:cNvSpPr>
            <a:spLocks noGrp="1"/>
          </p:cNvSpPr>
          <p:nvPr/>
        </p:nvSpPr>
        <p:spPr>
          <a:xfrm>
            <a:off x="685800" y="1685925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22263A"/>
                </a:solidFill>
              </a:defRPr>
            </a:pPr>
            <a:r>
              <a:rPr sz="1500">
                <a:solidFill>
                  <a:srgbClr val="22263A"/>
                </a:solidFill>
              </a:rPr>
              <a:t>The pointer determines firing direction; a preallocated pool reuses sprites instead of constructing a new object for each shot.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08F35F2-4154-449B-86CD-A6905AD4FEE1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3848100" cy="2952750"/>
          </a:xfrm>
          <a:prstGeom prst="roundRect">
            <a:avLst>
              <a:gd name="adj" fmla="val 2581"/>
            </a:avLst>
          </a:prstGeom>
          <a:solidFill>
            <a:srgbClr val="343B57"/>
          </a:solidFill>
          <a:ln w="0">
            <a:solidFill>
              <a:srgbClr val="343B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376363" y="2857500"/>
            <a:ext cx="2381250" cy="95250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EE9BBA90-63D0-47C7-A041-FAF0D74E9514}"/>
              </a:ext>
            </a:extLst>
          </p:cNvPr>
          <p:cNvSpPr>
            <a:spLocks noGrp="1"/>
          </p:cNvSpPr>
          <p:nvPr/>
        </p:nvSpPr>
        <p:spPr>
          <a:xfrm>
            <a:off x="1066800" y="4105275"/>
            <a:ext cx="2571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425">
                <a:solidFill>
                  <a:srgbClr val="F0EDE3"/>
                </a:solidFill>
              </a:defRPr>
            </a:pPr>
            <a:r>
              <a:rPr sz="1425">
                <a:solidFill>
                  <a:srgbClr val="F0EDE3"/>
                </a:solidFill>
              </a:rPr>
              <a:t>pointer - player center</a:t>
            </a:r>
          </a:p>
          <a:p>
            <a:pPr>
              <a:defRPr sz="1425">
                <a:solidFill>
                  <a:srgbClr val="F0EDE3"/>
                </a:solidFill>
              </a:defRPr>
            </a:pPr>
            <a:r>
              <a:rPr sz="1425">
                <a:solidFill>
                  <a:srgbClr val="F0EDE3"/>
                </a:solidFill>
              </a:rPr>
              <a:t>→ atan2 → gun rotation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C32857A-62E1-4CAD-A8E4-2742EB7E5E5A}"/>
              </a:ext>
            </a:extLst>
          </p:cNvPr>
          <p:cNvSpPr>
            <a:spLocks noGrp="1"/>
          </p:cNvSpPr>
          <p:nvPr/>
        </p:nvSpPr>
        <p:spPr>
          <a:xfrm>
            <a:off x="1066800" y="4905375"/>
            <a:ext cx="2476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F0EDE3"/>
                </a:solidFill>
              </a:defRPr>
            </a:pPr>
            <a:r>
              <a:rPr sz="1275">
                <a:solidFill>
                  <a:srgbClr val="F0EDE3"/>
                </a:solidFill>
              </a:rPr>
              <a:t>Pointer sets muzzle angle</a:t>
            </a:r>
          </a:p>
          <a:p>
            <a:pPr>
              <a:defRPr sz="1275">
                <a:solidFill>
                  <a:srgbClr val="F0EDE3"/>
                </a:solidFill>
              </a:defRPr>
            </a:pPr>
            <a:r>
              <a:rPr sz="1275">
                <a:solidFill>
                  <a:srgbClr val="F0EDE3"/>
                </a:solidFill>
              </a:rPr>
              <a:t>and projectile velocity.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23B9021-F653-476B-8278-68AE6F6F5580}"/>
              </a:ext>
            </a:extLst>
          </p:cNvPr>
          <p:cNvSpPr>
            <a:spLocks noGrp="1"/>
          </p:cNvSpPr>
          <p:nvPr/>
        </p:nvSpPr>
        <p:spPr>
          <a:xfrm>
            <a:off x="4972050" y="2476500"/>
            <a:ext cx="653415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CAD1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B53599A-E942-4869-B0D4-2EAD2827376C}"/>
              </a:ext>
            </a:extLst>
          </p:cNvPr>
          <p:cNvSpPr>
            <a:spLocks noGrp="1"/>
          </p:cNvSpPr>
          <p:nvPr/>
        </p:nvSpPr>
        <p:spPr>
          <a:xfrm>
            <a:off x="5314950" y="2838450"/>
            <a:ext cx="2000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025" b="1">
                <a:solidFill>
                  <a:srgbClr val="343B57"/>
                </a:solidFill>
              </a:defRPr>
            </a:pPr>
            <a:r>
              <a:rPr sz="2025" b="1">
                <a:solidFill>
                  <a:srgbClr val="343B57"/>
                </a:solidFill>
              </a:rPr>
              <a:t>BULLET POOL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B839058-BD01-411C-94E2-0977D7E8CBC0}"/>
              </a:ext>
            </a:extLst>
          </p:cNvPr>
          <p:cNvSpPr>
            <a:spLocks noGrp="1"/>
          </p:cNvSpPr>
          <p:nvPr/>
        </p:nvSpPr>
        <p:spPr>
          <a:xfrm>
            <a:off x="5314950" y="3333750"/>
            <a:ext cx="14287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200" b="1">
                <a:solidFill>
                  <a:srgbClr val="C7A96D"/>
                </a:solidFill>
              </a:defRPr>
            </a:pPr>
            <a:r>
              <a:rPr sz="4200" b="1">
                <a:solidFill>
                  <a:srgbClr val="C7A96D"/>
                </a:solidFill>
              </a:rPr>
              <a:t>500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D82BFC8-1925-47EC-8AB8-F414876EAB6D}"/>
              </a:ext>
            </a:extLst>
          </p:cNvPr>
          <p:cNvSpPr>
            <a:spLocks noGrp="1"/>
          </p:cNvSpPr>
          <p:nvPr/>
        </p:nvSpPr>
        <p:spPr>
          <a:xfrm>
            <a:off x="5314950" y="40005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22263A"/>
                </a:solidFill>
              </a:defRPr>
            </a:pPr>
            <a:r>
              <a:rPr sz="1500">
                <a:solidFill>
                  <a:srgbClr val="22263A"/>
                </a:solidFill>
              </a:rPr>
              <a:t>Preallocated bullet sprites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D217D82-2B6A-4971-B7AC-260215C59322}"/>
              </a:ext>
            </a:extLst>
          </p:cNvPr>
          <p:cNvSpPr>
            <a:spLocks noGrp="1"/>
          </p:cNvSpPr>
          <p:nvPr/>
        </p:nvSpPr>
        <p:spPr>
          <a:xfrm>
            <a:off x="7467600" y="2876550"/>
            <a:ext cx="3600450" cy="1695450"/>
          </a:xfrm>
          <a:prstGeom prst="roundRect">
            <a:avLst>
              <a:gd name="adj" fmla="val 3371"/>
            </a:avLst>
          </a:prstGeom>
          <a:solidFill>
            <a:srgbClr val="22263A"/>
          </a:solidFill>
          <a:ln w="0">
            <a:solidFill>
              <a:srgbClr val="2226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10A5FE5-C275-4B35-8323-F498D55AB977}"/>
              </a:ext>
            </a:extLst>
          </p:cNvPr>
          <p:cNvSpPr>
            <a:spLocks noGrp="1"/>
          </p:cNvSpPr>
          <p:nvPr/>
        </p:nvSpPr>
        <p:spPr>
          <a:xfrm>
            <a:off x="7677150" y="3028950"/>
            <a:ext cx="318135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if (!b_active[i]) {</a:t>
            </a:r>
          </a:p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  b_active[i] = true</a:t>
            </a:r>
          </a:p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  b_vx[i], b_vy[i] = velocity</a:t>
            </a:r>
          </a:p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  b_life[i] = 0</a:t>
            </a:r>
          </a:p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}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E90D4F5-EA05-414C-B44E-A6FAF6F779A6}"/>
              </a:ext>
            </a:extLst>
          </p:cNvPr>
          <p:cNvSpPr>
            <a:spLocks noGrp="1"/>
          </p:cNvSpPr>
          <p:nvPr/>
        </p:nvSpPr>
        <p:spPr>
          <a:xfrm>
            <a:off x="5314950" y="4810125"/>
            <a:ext cx="5619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22263A"/>
                </a:solidFill>
              </a:defRPr>
            </a:pPr>
            <a:r>
              <a:rPr sz="1350">
                <a:solidFill>
                  <a:srgbClr val="22263A"/>
                </a:solidFill>
              </a:rPr>
              <a:t>State arrays: active / velocity / lifetime / type</a:t>
            </a:r>
          </a:p>
          <a:p>
            <a:pPr>
              <a:defRPr sz="1350">
                <a:solidFill>
                  <a:srgbClr val="22263A"/>
                </a:solidFill>
              </a:defRPr>
            </a:pPr>
            <a:r>
              <a:rPr sz="1350">
                <a:solidFill>
                  <a:srgbClr val="22263A"/>
                </a:solidFill>
              </a:rPr>
              <a:t>Inactive projectiles return to the same pool for the next shot.</a:t>
            </a:r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944100" y="5562600"/>
            <a:ext cx="419100" cy="41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159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A702ABF8-0209-431A-8462-83F43487E580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28575"/>
          </a:xfrm>
          <a:prstGeom prst="rect">
            <a:avLst/>
          </a:prstGeom>
          <a:solidFill>
            <a:srgbClr val="C7A96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93771D9-E4CF-4C55-9B28-B5EAAEA22869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43B57"/>
                </a:solidFill>
              </a:defRPr>
            </a:pPr>
            <a:r>
              <a:rPr sz="1050" b="1" dirty="0">
                <a:solidFill>
                  <a:srgbClr val="343B57"/>
                </a:solidFill>
              </a:rPr>
              <a:t>0</a:t>
            </a:r>
            <a:r>
              <a:rPr lang="en-GB" sz="1050" b="1" dirty="0">
                <a:solidFill>
                  <a:srgbClr val="343B57"/>
                </a:solidFill>
              </a:rPr>
              <a:t>3</a:t>
            </a:r>
            <a:r>
              <a:rPr sz="1050" b="1" dirty="0">
                <a:solidFill>
                  <a:srgbClr val="343B57"/>
                </a:solidFill>
              </a:rPr>
              <a:t>  |  RUNTIME LOGIC - ENEMY SYSTEM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2A927E-F66D-4E26-B949-AF70F839B371}"/>
              </a:ext>
            </a:extLst>
          </p:cNvPr>
          <p:cNvSpPr>
            <a:spLocks noGrp="1"/>
          </p:cNvSpPr>
          <p:nvPr/>
        </p:nvSpPr>
        <p:spPr>
          <a:xfrm>
            <a:off x="10839450" y="63055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C7A96D"/>
                </a:solidFill>
              </a:defRPr>
            </a:pPr>
            <a:r>
              <a:rPr sz="1200" b="1" dirty="0">
                <a:solidFill>
                  <a:srgbClr val="C7A96D"/>
                </a:solidFill>
              </a:rPr>
              <a:t>0</a:t>
            </a:r>
            <a:r>
              <a:rPr lang="en-GB" sz="1200" b="1" dirty="0">
                <a:solidFill>
                  <a:srgbClr val="C7A96D"/>
                </a:solidFill>
              </a:rPr>
              <a:t>7</a:t>
            </a:r>
            <a:endParaRPr sz="1200" b="1" dirty="0">
              <a:solidFill>
                <a:srgbClr val="C7A96D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E094C94-D600-4ACC-8B2D-C80FA21CCE5B}"/>
              </a:ext>
            </a:extLst>
          </p:cNvPr>
          <p:cNvSpPr>
            <a:spLocks noGrp="1"/>
          </p:cNvSpPr>
          <p:nvPr/>
        </p:nvSpPr>
        <p:spPr>
          <a:xfrm>
            <a:off x="685800" y="695325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C7A96D"/>
                </a:solidFill>
              </a:defRPr>
            </a:pPr>
            <a:r>
              <a:rPr sz="1125" b="1" dirty="0">
                <a:solidFill>
                  <a:srgbClr val="C7A96D"/>
                </a:solidFill>
              </a:rPr>
              <a:t>ENEMIES: POOLS, SPAWNING, AND DIFFERENT BEHAVIORS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516737-CC77-408C-9DEC-661F4DDD7AFB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343B57"/>
                </a:solidFill>
              </a:defRPr>
            </a:pPr>
            <a:r>
              <a:rPr sz="3150" b="1">
                <a:solidFill>
                  <a:srgbClr val="343B57"/>
                </a:solidFill>
              </a:rPr>
              <a:t>Different Enemies, One Reusable Runtime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E210D0-EFF0-4C3D-B9E1-D365DAA8111B}"/>
              </a:ext>
            </a:extLst>
          </p:cNvPr>
          <p:cNvSpPr>
            <a:spLocks noGrp="1"/>
          </p:cNvSpPr>
          <p:nvPr/>
        </p:nvSpPr>
        <p:spPr>
          <a:xfrm>
            <a:off x="685800" y="1685925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22263A"/>
                </a:solidFill>
              </a:defRPr>
            </a:pPr>
            <a:r>
              <a:rPr sz="1500">
                <a:solidFill>
                  <a:srgbClr val="22263A"/>
                </a:solidFill>
              </a:rPr>
              <a:t>Each enemy carries HP, speed, texture, and a behavior ID. The spawner activates inactive pool entries only at valid map positions outside walls.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8639A8D-D083-4828-A14F-E36142E1F569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10820400" cy="3048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CAD1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8BF0894-2ED5-4A27-BCEC-A9F6BC959727}"/>
              </a:ext>
            </a:extLst>
          </p:cNvPr>
          <p:cNvSpPr>
            <a:spLocks noGrp="1"/>
          </p:cNvSpPr>
          <p:nvPr/>
        </p:nvSpPr>
        <p:spPr>
          <a:xfrm>
            <a:off x="1000125" y="2705100"/>
            <a:ext cx="12382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900" b="1">
                <a:solidFill>
                  <a:srgbClr val="C7A96D"/>
                </a:solidFill>
              </a:defRPr>
            </a:pPr>
            <a:r>
              <a:rPr sz="3900" b="1">
                <a:solidFill>
                  <a:srgbClr val="C7A96D"/>
                </a:solidFill>
              </a:rPr>
              <a:t>100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084C38-4CC6-4365-8BEF-63D6F0E418F0}"/>
              </a:ext>
            </a:extLst>
          </p:cNvPr>
          <p:cNvSpPr>
            <a:spLocks noGrp="1"/>
          </p:cNvSpPr>
          <p:nvPr/>
        </p:nvSpPr>
        <p:spPr>
          <a:xfrm>
            <a:off x="1028700" y="3333750"/>
            <a:ext cx="157162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22263A"/>
                </a:solidFill>
              </a:defRPr>
            </a:pPr>
            <a:r>
              <a:rPr sz="1350">
                <a:solidFill>
                  <a:srgbClr val="22263A"/>
                </a:solidFill>
              </a:rPr>
              <a:t>Standard enemy pool</a:t>
            </a:r>
          </a:p>
          <a:p>
            <a:pPr>
              <a:defRPr sz="1350">
                <a:solidFill>
                  <a:srgbClr val="22263A"/>
                </a:solidFill>
              </a:defRPr>
            </a:pPr>
            <a:r>
              <a:rPr sz="1350">
                <a:solidFill>
                  <a:srgbClr val="22263A"/>
                </a:solidFill>
              </a:rPr>
              <a:t>+ 5 boss objects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6B47D42-DF22-4786-969F-4C519AFA24CF}"/>
              </a:ext>
            </a:extLst>
          </p:cNvPr>
          <p:cNvSpPr>
            <a:spLocks noGrp="1"/>
          </p:cNvSpPr>
          <p:nvPr/>
        </p:nvSpPr>
        <p:spPr>
          <a:xfrm>
            <a:off x="2876550" y="2628900"/>
            <a:ext cx="19050" cy="2209800"/>
          </a:xfrm>
          <a:prstGeom prst="rect">
            <a:avLst/>
          </a:prstGeom>
          <a:solidFill>
            <a:srgbClr val="CAD1D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3B261D35-A68B-4C9D-A960-B284FBD1BDCC}"/>
              </a:ext>
            </a:extLst>
          </p:cNvPr>
          <p:cNvSpPr>
            <a:spLocks noGrp="1"/>
          </p:cNvSpPr>
          <p:nvPr/>
        </p:nvSpPr>
        <p:spPr>
          <a:xfrm>
            <a:off x="3181350" y="2705100"/>
            <a:ext cx="4267200" cy="1162050"/>
          </a:xfrm>
          <a:prstGeom prst="roundRect">
            <a:avLst>
              <a:gd name="adj" fmla="val 4918"/>
            </a:avLst>
          </a:prstGeom>
          <a:solidFill>
            <a:srgbClr val="22263A"/>
          </a:solidFill>
          <a:ln w="0">
            <a:solidFill>
              <a:srgbClr val="2226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281DA325-63D4-4D61-A9DD-E58B7014DB47}"/>
              </a:ext>
            </a:extLst>
          </p:cNvPr>
          <p:cNvSpPr>
            <a:spLocks noGrp="1"/>
          </p:cNvSpPr>
          <p:nvPr/>
        </p:nvSpPr>
        <p:spPr>
          <a:xfrm>
            <a:off x="3390900" y="2857500"/>
            <a:ext cx="3848100" cy="895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enemy(hp, speed, texture, behavior, reward)</a:t>
            </a:r>
          </a:p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spawn only if !is_alive()</a:t>
            </a:r>
          </a:p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map position must not be a wall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A171715-A557-400B-800F-5B64A8B2C0B9}"/>
              </a:ext>
            </a:extLst>
          </p:cNvPr>
          <p:cNvSpPr>
            <a:spLocks noGrp="1"/>
          </p:cNvSpPr>
          <p:nvPr/>
        </p:nvSpPr>
        <p:spPr>
          <a:xfrm>
            <a:off x="7810500" y="26289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343B57"/>
                </a:solidFill>
              </a:defRPr>
            </a:pPr>
            <a:r>
              <a:rPr sz="1875" b="1" dirty="0">
                <a:solidFill>
                  <a:srgbClr val="343B57"/>
                </a:solidFill>
              </a:rPr>
              <a:t>Behavior examples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867650" y="3162300"/>
            <a:ext cx="723900" cy="72390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2738AC0B-31C9-4C81-B9B7-7F51E13700E0}"/>
              </a:ext>
            </a:extLst>
          </p:cNvPr>
          <p:cNvSpPr>
            <a:spLocks noGrp="1"/>
          </p:cNvSpPr>
          <p:nvPr/>
        </p:nvSpPr>
        <p:spPr>
          <a:xfrm>
            <a:off x="7791450" y="4038600"/>
            <a:ext cx="876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343B57"/>
                </a:solidFill>
              </a:defRPr>
            </a:pPr>
            <a:r>
              <a:rPr lang="en-GB" sz="1200" b="1" dirty="0">
                <a:solidFill>
                  <a:srgbClr val="343B57"/>
                </a:solidFill>
              </a:rPr>
              <a:t>explode</a:t>
            </a:r>
            <a:endParaRPr sz="1200" b="1" dirty="0">
              <a:solidFill>
                <a:srgbClr val="343B57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FA51E2-DAB1-4050-A645-BE8DC411BCDE}"/>
              </a:ext>
            </a:extLst>
          </p:cNvPr>
          <p:cNvSpPr>
            <a:spLocks noGrp="1"/>
          </p:cNvSpPr>
          <p:nvPr/>
        </p:nvSpPr>
        <p:spPr>
          <a:xfrm>
            <a:off x="8648700" y="403860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343B57"/>
                </a:solidFill>
              </a:defRPr>
            </a:pPr>
            <a:r>
              <a:rPr lang="en-GB" sz="1200" b="1" dirty="0">
                <a:solidFill>
                  <a:srgbClr val="343B57"/>
                </a:solidFill>
              </a:rPr>
              <a:t>chase in sine-wave</a:t>
            </a:r>
            <a:endParaRPr sz="1200" b="1" dirty="0">
              <a:solidFill>
                <a:srgbClr val="343B57"/>
              </a:solidFill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4E025A4-7C08-47FD-8CC6-5DCA6BFEA6A6}"/>
              </a:ext>
            </a:extLst>
          </p:cNvPr>
          <p:cNvSpPr>
            <a:spLocks noGrp="1"/>
          </p:cNvSpPr>
          <p:nvPr/>
        </p:nvSpPr>
        <p:spPr>
          <a:xfrm>
            <a:off x="9505950" y="4038600"/>
            <a:ext cx="876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343B57"/>
                </a:solidFill>
              </a:defRPr>
            </a:pPr>
            <a:endParaRPr sz="1200" b="1" dirty="0">
              <a:solidFill>
                <a:srgbClr val="343B57"/>
              </a:solidFill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439400" y="3162300"/>
            <a:ext cx="723900" cy="723900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B026A8C3-A4DE-42F7-A429-18052611203D}"/>
              </a:ext>
            </a:extLst>
          </p:cNvPr>
          <p:cNvSpPr>
            <a:spLocks noGrp="1"/>
          </p:cNvSpPr>
          <p:nvPr/>
        </p:nvSpPr>
        <p:spPr>
          <a:xfrm>
            <a:off x="10363200" y="4038600"/>
            <a:ext cx="8763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343B57"/>
                </a:solidFill>
              </a:defRPr>
            </a:pPr>
            <a:r>
              <a:rPr lang="en-GB" sz="1200" b="1" dirty="0">
                <a:solidFill>
                  <a:srgbClr val="343B57"/>
                </a:solidFill>
              </a:rPr>
              <a:t>flee</a:t>
            </a:r>
            <a:endParaRPr sz="1200" b="1" dirty="0">
              <a:solidFill>
                <a:srgbClr val="343B57"/>
              </a:solidFill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194B7A8-3B5B-434E-9392-BF0C6695172E}"/>
              </a:ext>
            </a:extLst>
          </p:cNvPr>
          <p:cNvSpPr>
            <a:spLocks noGrp="1"/>
          </p:cNvSpPr>
          <p:nvPr/>
        </p:nvSpPr>
        <p:spPr>
          <a:xfrm>
            <a:off x="3181350" y="4305300"/>
            <a:ext cx="733425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22263A"/>
                </a:solidFill>
              </a:defRPr>
            </a:pPr>
            <a:r>
              <a:rPr sz="1350">
                <a:solidFill>
                  <a:srgbClr val="22263A"/>
                </a:solidFill>
              </a:rPr>
              <a:t>Movement branches cover direct chase, sine-wave drift, dash bursts, ranged spacing, death explosions, fleeing, and area healing.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74F79BB-32E2-42C5-9E9C-B033939DE41B}"/>
              </a:ext>
            </a:extLst>
          </p:cNvPr>
          <p:cNvSpPr>
            <a:spLocks noGrp="1"/>
          </p:cNvSpPr>
          <p:nvPr/>
        </p:nvSpPr>
        <p:spPr>
          <a:xfrm>
            <a:off x="990600" y="5581650"/>
            <a:ext cx="923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22263A"/>
                </a:solidFill>
              </a:defRPr>
            </a:pPr>
            <a:r>
              <a:rPr sz="1350">
                <a:solidFill>
                  <a:srgbClr val="22263A"/>
                </a:solidFill>
              </a:rPr>
              <a:t>Collision: AABB is used as a broad-phase test, followed by a squared-distance check. A hurt cooldown prevents repeated damage each frame.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649243CD-DE88-4153-044A-DD0E6507BD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3464" y="3267075"/>
            <a:ext cx="855368" cy="855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416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12D4FF36-3755-41D3-939E-000D92731C15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28575"/>
          </a:xfrm>
          <a:prstGeom prst="rect">
            <a:avLst/>
          </a:prstGeom>
          <a:solidFill>
            <a:srgbClr val="C7A96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F1C457-CDB3-4C5A-8138-0097B3CAA311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43B57"/>
                </a:solidFill>
              </a:defRPr>
            </a:pPr>
            <a:r>
              <a:rPr sz="1050" b="1" dirty="0">
                <a:solidFill>
                  <a:srgbClr val="343B57"/>
                </a:solidFill>
              </a:rPr>
              <a:t>0</a:t>
            </a:r>
            <a:r>
              <a:rPr lang="en-GB" sz="1050" b="1" dirty="0">
                <a:solidFill>
                  <a:srgbClr val="343B57"/>
                </a:solidFill>
              </a:rPr>
              <a:t>3</a:t>
            </a:r>
            <a:r>
              <a:rPr sz="1050" b="1" dirty="0">
                <a:solidFill>
                  <a:srgbClr val="343B57"/>
                </a:solidFill>
              </a:rPr>
              <a:t> |  RUNTIME LOGIC - MONSTER SPAWNING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6F593E-E161-4FB2-9EA8-BAE857C81DBB}"/>
              </a:ext>
            </a:extLst>
          </p:cNvPr>
          <p:cNvSpPr>
            <a:spLocks noGrp="1"/>
          </p:cNvSpPr>
          <p:nvPr/>
        </p:nvSpPr>
        <p:spPr>
          <a:xfrm>
            <a:off x="10839450" y="63055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C7A96D"/>
                </a:solidFill>
              </a:defRPr>
            </a:pPr>
            <a:r>
              <a:rPr sz="1200" b="1" dirty="0">
                <a:solidFill>
                  <a:srgbClr val="C7A96D"/>
                </a:solidFill>
              </a:rPr>
              <a:t>0</a:t>
            </a:r>
            <a:r>
              <a:rPr lang="en-GB" sz="1200" b="1" dirty="0">
                <a:solidFill>
                  <a:srgbClr val="C7A96D"/>
                </a:solidFill>
              </a:rPr>
              <a:t>8</a:t>
            </a:r>
            <a:endParaRPr sz="1200" b="1" dirty="0">
              <a:solidFill>
                <a:srgbClr val="C7A96D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43952FC-68C6-4EC3-B595-3BB2400F2F2F}"/>
              </a:ext>
            </a:extLst>
          </p:cNvPr>
          <p:cNvSpPr>
            <a:spLocks noGrp="1"/>
          </p:cNvSpPr>
          <p:nvPr/>
        </p:nvSpPr>
        <p:spPr>
          <a:xfrm>
            <a:off x="685800" y="695325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C7A96D"/>
                </a:solidFill>
              </a:defRPr>
            </a:pPr>
            <a:endParaRPr sz="1125" b="1" dirty="0">
              <a:solidFill>
                <a:srgbClr val="C7A96D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AEBFB25-5B0F-46A5-A83E-30693DF6B6DE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343B57"/>
                </a:solidFill>
              </a:defRPr>
            </a:pPr>
            <a:r>
              <a:rPr sz="3150" b="1" dirty="0">
                <a:solidFill>
                  <a:srgbClr val="343B57"/>
                </a:solidFill>
              </a:rPr>
              <a:t>Spawn Only After Space Is Valid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7FE5695-C02C-4455-B608-5A75F13A2ECE}"/>
              </a:ext>
            </a:extLst>
          </p:cNvPr>
          <p:cNvSpPr>
            <a:spLocks noGrp="1"/>
          </p:cNvSpPr>
          <p:nvPr/>
        </p:nvSpPr>
        <p:spPr>
          <a:xfrm>
            <a:off x="685800" y="1685925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22263A"/>
                </a:solidFill>
              </a:defRPr>
            </a:pPr>
            <a:r>
              <a:rPr sz="1500">
                <a:solidFill>
                  <a:srgbClr val="22263A"/>
                </a:solidFill>
              </a:rPr>
              <a:t>After a cooldown, the spawner reuses an inactive enemy and tests its map tile before activation.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3B11C2A6-7758-4E36-88B1-27E4A8D75339}"/>
              </a:ext>
            </a:extLst>
          </p:cNvPr>
          <p:cNvSpPr>
            <a:spLocks noGrp="1"/>
          </p:cNvSpPr>
          <p:nvPr/>
        </p:nvSpPr>
        <p:spPr>
          <a:xfrm>
            <a:off x="685800" y="2333625"/>
            <a:ext cx="10820400" cy="17145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9525">
            <a:solidFill>
              <a:srgbClr val="CAD1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35A37B5-37F0-4012-A986-6C961BE892D4}"/>
              </a:ext>
            </a:extLst>
          </p:cNvPr>
          <p:cNvSpPr>
            <a:spLocks noGrp="1"/>
          </p:cNvSpPr>
          <p:nvPr/>
        </p:nvSpPr>
        <p:spPr>
          <a:xfrm>
            <a:off x="2419350" y="3162300"/>
            <a:ext cx="419100" cy="28575"/>
          </a:xfrm>
          <a:prstGeom prst="rect">
            <a:avLst/>
          </a:prstGeom>
          <a:solidFill>
            <a:srgbClr val="D4A09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019D1A8-87CC-470D-AC5D-397435036166}"/>
              </a:ext>
            </a:extLst>
          </p:cNvPr>
          <p:cNvSpPr>
            <a:spLocks noGrp="1"/>
          </p:cNvSpPr>
          <p:nvPr/>
        </p:nvSpPr>
        <p:spPr>
          <a:xfrm>
            <a:off x="4514850" y="3162300"/>
            <a:ext cx="419100" cy="28575"/>
          </a:xfrm>
          <a:prstGeom prst="rect">
            <a:avLst/>
          </a:prstGeom>
          <a:solidFill>
            <a:srgbClr val="D4A09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F539009-964D-4E5A-9A6C-D09B81F6A9D2}"/>
              </a:ext>
            </a:extLst>
          </p:cNvPr>
          <p:cNvSpPr>
            <a:spLocks noGrp="1"/>
          </p:cNvSpPr>
          <p:nvPr/>
        </p:nvSpPr>
        <p:spPr>
          <a:xfrm>
            <a:off x="6610350" y="3162300"/>
            <a:ext cx="419100" cy="28575"/>
          </a:xfrm>
          <a:prstGeom prst="rect">
            <a:avLst/>
          </a:prstGeom>
          <a:solidFill>
            <a:srgbClr val="D4A09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3E4F722-A888-4859-ADA8-7F438FE12768}"/>
              </a:ext>
            </a:extLst>
          </p:cNvPr>
          <p:cNvSpPr>
            <a:spLocks noGrp="1"/>
          </p:cNvSpPr>
          <p:nvPr/>
        </p:nvSpPr>
        <p:spPr>
          <a:xfrm>
            <a:off x="8705850" y="3162300"/>
            <a:ext cx="419100" cy="28575"/>
          </a:xfrm>
          <a:prstGeom prst="rect">
            <a:avLst/>
          </a:prstGeom>
          <a:solidFill>
            <a:srgbClr val="D4A09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A16ED4D8-ADB3-43E6-96A5-34B9A386A057}"/>
              </a:ext>
            </a:extLst>
          </p:cNvPr>
          <p:cNvSpPr>
            <a:spLocks noGrp="1"/>
          </p:cNvSpPr>
          <p:nvPr/>
        </p:nvSpPr>
        <p:spPr>
          <a:xfrm>
            <a:off x="876300" y="2667000"/>
            <a:ext cx="1619250" cy="990600"/>
          </a:xfrm>
          <a:prstGeom prst="roundRect">
            <a:avLst>
              <a:gd name="adj" fmla="val 5769"/>
            </a:avLst>
          </a:prstGeom>
          <a:solidFill>
            <a:srgbClr val="E8E5DA"/>
          </a:solidFill>
          <a:ln w="9525">
            <a:solidFill>
              <a:srgbClr val="CAD1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00E8DDC-CB12-4D49-A66F-DE5D8FD07F07}"/>
              </a:ext>
            </a:extLst>
          </p:cNvPr>
          <p:cNvSpPr>
            <a:spLocks noGrp="1"/>
          </p:cNvSpPr>
          <p:nvPr/>
        </p:nvSpPr>
        <p:spPr>
          <a:xfrm>
            <a:off x="1028700" y="28003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C7A96D"/>
                </a:solidFill>
              </a:defRPr>
            </a:pPr>
            <a:r>
              <a:rPr sz="1050" b="1">
                <a:solidFill>
                  <a:srgbClr val="C7A96D"/>
                </a:solidFill>
              </a:rPr>
              <a:t>01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E769242-5BEB-48D6-8159-BDA0E6627071}"/>
              </a:ext>
            </a:extLst>
          </p:cNvPr>
          <p:cNvSpPr>
            <a:spLocks noGrp="1"/>
          </p:cNvSpPr>
          <p:nvPr/>
        </p:nvSpPr>
        <p:spPr>
          <a:xfrm>
            <a:off x="1028700" y="3057525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343B57"/>
                </a:solidFill>
              </a:defRPr>
            </a:pPr>
            <a:r>
              <a:rPr sz="1425" b="1">
                <a:solidFill>
                  <a:srgbClr val="343B57"/>
                </a:solidFill>
              </a:rPr>
              <a:t>COUNT DOWN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9F75641-0CE0-44C9-AAF9-CE4D33C245EA}"/>
              </a:ext>
            </a:extLst>
          </p:cNvPr>
          <p:cNvSpPr>
            <a:spLocks noGrp="1"/>
          </p:cNvSpPr>
          <p:nvPr/>
        </p:nvSpPr>
        <p:spPr>
          <a:xfrm>
            <a:off x="1028700" y="33528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22263A"/>
                </a:solidFill>
              </a:defRPr>
            </a:pPr>
            <a:r>
              <a:rPr sz="1125">
                <a:solidFill>
                  <a:srgbClr val="22263A"/>
                </a:solidFill>
              </a:rPr>
              <a:t>spawn_cooldown--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DF157B5-34E7-4C94-A6B4-7D678BEF3BF2}"/>
              </a:ext>
            </a:extLst>
          </p:cNvPr>
          <p:cNvSpPr>
            <a:spLocks noGrp="1"/>
          </p:cNvSpPr>
          <p:nvPr/>
        </p:nvSpPr>
        <p:spPr>
          <a:xfrm>
            <a:off x="2971800" y="2667000"/>
            <a:ext cx="1619250" cy="990600"/>
          </a:xfrm>
          <a:prstGeom prst="roundRect">
            <a:avLst>
              <a:gd name="adj" fmla="val 5769"/>
            </a:avLst>
          </a:prstGeom>
          <a:solidFill>
            <a:srgbClr val="E8E5DA"/>
          </a:solidFill>
          <a:ln w="9525">
            <a:solidFill>
              <a:srgbClr val="CAD1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B8B717B-25EC-43BD-98AD-4A89029F0691}"/>
              </a:ext>
            </a:extLst>
          </p:cNvPr>
          <p:cNvSpPr>
            <a:spLocks noGrp="1"/>
          </p:cNvSpPr>
          <p:nvPr/>
        </p:nvSpPr>
        <p:spPr>
          <a:xfrm>
            <a:off x="3124200" y="28003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C7A96D"/>
                </a:solidFill>
              </a:defRPr>
            </a:pPr>
            <a:r>
              <a:rPr sz="1050" b="1">
                <a:solidFill>
                  <a:srgbClr val="C7A96D"/>
                </a:solidFill>
              </a:rPr>
              <a:t>02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00454B0-96E6-469F-9278-B315EEAE3252}"/>
              </a:ext>
            </a:extLst>
          </p:cNvPr>
          <p:cNvSpPr>
            <a:spLocks noGrp="1"/>
          </p:cNvSpPr>
          <p:nvPr/>
        </p:nvSpPr>
        <p:spPr>
          <a:xfrm>
            <a:off x="3124200" y="3057525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343B57"/>
                </a:solidFill>
              </a:defRPr>
            </a:pPr>
            <a:r>
              <a:rPr sz="1425" b="1">
                <a:solidFill>
                  <a:srgbClr val="343B57"/>
                </a:solidFill>
              </a:rPr>
              <a:t>REUSE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4540CD0-51E7-461A-8532-49BBD12F31BC}"/>
              </a:ext>
            </a:extLst>
          </p:cNvPr>
          <p:cNvSpPr>
            <a:spLocks noGrp="1"/>
          </p:cNvSpPr>
          <p:nvPr/>
        </p:nvSpPr>
        <p:spPr>
          <a:xfrm>
            <a:off x="3124200" y="33528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22263A"/>
                </a:solidFill>
              </a:defRPr>
            </a:pPr>
            <a:r>
              <a:rPr sz="1125">
                <a:solidFill>
                  <a:srgbClr val="22263A"/>
                </a:solidFill>
              </a:rPr>
              <a:t>first !is_alive()</a:t>
            </a: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B0EC370-1783-4484-A4E7-BE199DF9F51B}"/>
              </a:ext>
            </a:extLst>
          </p:cNvPr>
          <p:cNvSpPr>
            <a:spLocks noGrp="1"/>
          </p:cNvSpPr>
          <p:nvPr/>
        </p:nvSpPr>
        <p:spPr>
          <a:xfrm>
            <a:off x="5067300" y="2667000"/>
            <a:ext cx="1619250" cy="990600"/>
          </a:xfrm>
          <a:prstGeom prst="roundRect">
            <a:avLst>
              <a:gd name="adj" fmla="val 5769"/>
            </a:avLst>
          </a:prstGeom>
          <a:solidFill>
            <a:srgbClr val="E8E5DA"/>
          </a:solidFill>
          <a:ln w="9525">
            <a:solidFill>
              <a:srgbClr val="CAD1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DC1E2A7-35BF-463F-8B3F-AA15BAF090E1}"/>
              </a:ext>
            </a:extLst>
          </p:cNvPr>
          <p:cNvSpPr>
            <a:spLocks noGrp="1"/>
          </p:cNvSpPr>
          <p:nvPr/>
        </p:nvSpPr>
        <p:spPr>
          <a:xfrm>
            <a:off x="5219700" y="28003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C7A96D"/>
                </a:solidFill>
              </a:defRPr>
            </a:pPr>
            <a:r>
              <a:rPr sz="1050" b="1">
                <a:solidFill>
                  <a:srgbClr val="C7A96D"/>
                </a:solidFill>
              </a:rPr>
              <a:t>03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D060CBA-0BBF-464E-B311-C83D0CF4217D}"/>
              </a:ext>
            </a:extLst>
          </p:cNvPr>
          <p:cNvSpPr>
            <a:spLocks noGrp="1"/>
          </p:cNvSpPr>
          <p:nvPr/>
        </p:nvSpPr>
        <p:spPr>
          <a:xfrm>
            <a:off x="5219700" y="3057525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343B57"/>
                </a:solidFill>
              </a:defRPr>
            </a:pPr>
            <a:r>
              <a:rPr sz="1425" b="1">
                <a:solidFill>
                  <a:srgbClr val="343B57"/>
                </a:solidFill>
              </a:rPr>
              <a:t>PICK A RING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85DF0FD7-F496-4826-981B-E94422FE1FB1}"/>
              </a:ext>
            </a:extLst>
          </p:cNvPr>
          <p:cNvSpPr>
            <a:spLocks noGrp="1"/>
          </p:cNvSpPr>
          <p:nvPr/>
        </p:nvSpPr>
        <p:spPr>
          <a:xfrm>
            <a:off x="5219700" y="33528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22263A"/>
                </a:solidFill>
              </a:defRPr>
            </a:pPr>
            <a:r>
              <a:rPr sz="1125">
                <a:solidFill>
                  <a:srgbClr val="22263A"/>
                </a:solidFill>
              </a:rPr>
              <a:t>r = 600</a:t>
            </a: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A3D62391-5CEE-4492-AF9A-8D9FC2B4AD1B}"/>
              </a:ext>
            </a:extLst>
          </p:cNvPr>
          <p:cNvSpPr>
            <a:spLocks noGrp="1"/>
          </p:cNvSpPr>
          <p:nvPr/>
        </p:nvSpPr>
        <p:spPr>
          <a:xfrm>
            <a:off x="7162800" y="2667000"/>
            <a:ext cx="1619250" cy="990600"/>
          </a:xfrm>
          <a:prstGeom prst="roundRect">
            <a:avLst>
              <a:gd name="adj" fmla="val 5769"/>
            </a:avLst>
          </a:prstGeom>
          <a:solidFill>
            <a:srgbClr val="E8E5DA"/>
          </a:solidFill>
          <a:ln w="9525">
            <a:solidFill>
              <a:srgbClr val="CAD1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4B90046-A3A0-4C5B-B72B-945C13A58333}"/>
              </a:ext>
            </a:extLst>
          </p:cNvPr>
          <p:cNvSpPr>
            <a:spLocks noGrp="1"/>
          </p:cNvSpPr>
          <p:nvPr/>
        </p:nvSpPr>
        <p:spPr>
          <a:xfrm>
            <a:off x="7315200" y="28003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C7A96D"/>
                </a:solidFill>
              </a:defRPr>
            </a:pPr>
            <a:r>
              <a:rPr sz="1050" b="1">
                <a:solidFill>
                  <a:srgbClr val="C7A96D"/>
                </a:solidFill>
              </a:rPr>
              <a:t>04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DA9366B2-F323-4830-9826-3413D4EB6FC0}"/>
              </a:ext>
            </a:extLst>
          </p:cNvPr>
          <p:cNvSpPr>
            <a:spLocks noGrp="1"/>
          </p:cNvSpPr>
          <p:nvPr/>
        </p:nvSpPr>
        <p:spPr>
          <a:xfrm>
            <a:off x="7315200" y="3057525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343B57"/>
                </a:solidFill>
              </a:defRPr>
            </a:pPr>
            <a:r>
              <a:rPr sz="1425" b="1">
                <a:solidFill>
                  <a:srgbClr val="343B57"/>
                </a:solidFill>
              </a:rPr>
              <a:t>CHECK TILE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649A3CC0-2DBB-4BDF-88E7-CFFFD84E03A4}"/>
              </a:ext>
            </a:extLst>
          </p:cNvPr>
          <p:cNvSpPr>
            <a:spLocks noGrp="1"/>
          </p:cNvSpPr>
          <p:nvPr/>
        </p:nvSpPr>
        <p:spPr>
          <a:xfrm>
            <a:off x="7315200" y="33528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22263A"/>
                </a:solidFill>
              </a:defRPr>
            </a:pPr>
            <a:r>
              <a:rPr sz="1125">
                <a:solidFill>
                  <a:srgbClr val="22263A"/>
                </a:solidFill>
              </a:rPr>
              <a:t>!is_wall(...)</a:t>
            </a: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0DF2D0D1-DCBF-47EF-91C6-DFA9814C174A}"/>
              </a:ext>
            </a:extLst>
          </p:cNvPr>
          <p:cNvSpPr>
            <a:spLocks noGrp="1"/>
          </p:cNvSpPr>
          <p:nvPr/>
        </p:nvSpPr>
        <p:spPr>
          <a:xfrm>
            <a:off x="9258300" y="2667000"/>
            <a:ext cx="1619250" cy="990600"/>
          </a:xfrm>
          <a:prstGeom prst="roundRect">
            <a:avLst>
              <a:gd name="adj" fmla="val 5769"/>
            </a:avLst>
          </a:prstGeom>
          <a:solidFill>
            <a:srgbClr val="343B57"/>
          </a:solidFill>
          <a:ln w="9525">
            <a:solidFill>
              <a:srgbClr val="343B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F14D69F-7116-4436-A1CE-C81974A61653}"/>
              </a:ext>
            </a:extLst>
          </p:cNvPr>
          <p:cNvSpPr>
            <a:spLocks noGrp="1"/>
          </p:cNvSpPr>
          <p:nvPr/>
        </p:nvSpPr>
        <p:spPr>
          <a:xfrm>
            <a:off x="9410700" y="2800350"/>
            <a:ext cx="3238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C7A96D"/>
                </a:solidFill>
              </a:defRPr>
            </a:pPr>
            <a:r>
              <a:rPr sz="1050" b="1">
                <a:solidFill>
                  <a:srgbClr val="C7A96D"/>
                </a:solidFill>
              </a:rPr>
              <a:t>05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A19D39D-BC44-4FD5-9C1D-9A8F446296C7}"/>
              </a:ext>
            </a:extLst>
          </p:cNvPr>
          <p:cNvSpPr>
            <a:spLocks noGrp="1"/>
          </p:cNvSpPr>
          <p:nvPr/>
        </p:nvSpPr>
        <p:spPr>
          <a:xfrm>
            <a:off x="9410700" y="3057525"/>
            <a:ext cx="1333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F0EDE3"/>
                </a:solidFill>
              </a:defRPr>
            </a:pPr>
            <a:r>
              <a:rPr sz="1425" b="1">
                <a:solidFill>
                  <a:srgbClr val="F0EDE3"/>
                </a:solidFill>
              </a:rPr>
              <a:t>ACTIVATE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9663C0CF-CA4D-4496-88AE-DCBB38DA792A}"/>
              </a:ext>
            </a:extLst>
          </p:cNvPr>
          <p:cNvSpPr>
            <a:spLocks noGrp="1"/>
          </p:cNvSpPr>
          <p:nvPr/>
        </p:nvSpPr>
        <p:spPr>
          <a:xfrm>
            <a:off x="9410700" y="3352800"/>
            <a:ext cx="1333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>
                <a:solidFill>
                  <a:srgbClr val="F0EDE3"/>
                </a:solidFill>
              </a:defRPr>
            </a:pPr>
            <a:r>
              <a:rPr sz="1125">
                <a:solidFill>
                  <a:srgbClr val="F0EDE3"/>
                </a:solidFill>
              </a:rPr>
              <a:t>enemy.spawn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12DD97E-BA20-4F97-9006-10C4A155AF92}"/>
              </a:ext>
            </a:extLst>
          </p:cNvPr>
          <p:cNvSpPr>
            <a:spLocks noGrp="1"/>
          </p:cNvSpPr>
          <p:nvPr/>
        </p:nvSpPr>
        <p:spPr>
          <a:xfrm>
            <a:off x="685800" y="4457700"/>
            <a:ext cx="6286500" cy="1352550"/>
          </a:xfrm>
          <a:prstGeom prst="roundRect">
            <a:avLst>
              <a:gd name="adj" fmla="val 4225"/>
            </a:avLst>
          </a:prstGeom>
          <a:solidFill>
            <a:srgbClr val="22263A"/>
          </a:solidFill>
          <a:ln w="0">
            <a:solidFill>
              <a:srgbClr val="2226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9D226D8-5DF4-464A-BAB5-D9C198AA2666}"/>
              </a:ext>
            </a:extLst>
          </p:cNvPr>
          <p:cNvSpPr>
            <a:spLocks noGrp="1"/>
          </p:cNvSpPr>
          <p:nvPr/>
        </p:nvSpPr>
        <p:spPr>
          <a:xfrm>
            <a:off x="895350" y="4610100"/>
            <a:ext cx="5867400" cy="1085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spawn_cooldown = spawn_cooldown - 1</a:t>
            </a:r>
          </a:p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if (spawn_cooldown &lt;= 0 &amp;&amp; !enemy('is_alive')()) {</a:t>
            </a:r>
          </a:p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  if (!is_wall(tile_map, tx, ty)) enemy('spawn')(sx, sy)</a:t>
            </a:r>
          </a:p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}</a:t>
            </a:r>
          </a:p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spawn_cooldown = spawn_rate</a:t>
            </a:r>
          </a:p>
        </p:txBody>
      </p:sp>
      <p:sp>
        <p:nvSpPr>
          <p:cNvPr id="34" name="矩形: 圆角 33">
            <a:extLst>
              <a:ext uri="{FF2B5EF4-FFF2-40B4-BE49-F238E27FC236}">
                <a16:creationId xmlns:a16="http://schemas.microsoft.com/office/drawing/2014/main" id="{AA699314-6902-4731-BF9F-7B0B68F5976C}"/>
              </a:ext>
            </a:extLst>
          </p:cNvPr>
          <p:cNvSpPr>
            <a:spLocks noGrp="1"/>
          </p:cNvSpPr>
          <p:nvPr/>
        </p:nvSpPr>
        <p:spPr>
          <a:xfrm>
            <a:off x="7334250" y="4457700"/>
            <a:ext cx="4171950" cy="1352550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9525">
            <a:solidFill>
              <a:srgbClr val="CAD1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C222D68-ED92-4A8E-A23C-2BF84471D090}"/>
              </a:ext>
            </a:extLst>
          </p:cNvPr>
          <p:cNvSpPr>
            <a:spLocks noGrp="1"/>
          </p:cNvSpPr>
          <p:nvPr/>
        </p:nvSpPr>
        <p:spPr>
          <a:xfrm>
            <a:off x="7639050" y="46863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725" b="1">
                <a:solidFill>
                  <a:srgbClr val="343B57"/>
                </a:solidFill>
              </a:defRPr>
            </a:pPr>
            <a:r>
              <a:rPr sz="1725" b="1">
                <a:solidFill>
                  <a:srgbClr val="343B57"/>
                </a:solidFill>
              </a:rPr>
              <a:t>SCALE &amp; BOSS GATE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498ED21-4654-49D1-ABDF-6B68C89FA399}"/>
              </a:ext>
            </a:extLst>
          </p:cNvPr>
          <p:cNvSpPr>
            <a:spLocks noGrp="1"/>
          </p:cNvSpPr>
          <p:nvPr/>
        </p:nvSpPr>
        <p:spPr>
          <a:xfrm>
            <a:off x="7639050" y="5076825"/>
            <a:ext cx="35052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22263A"/>
                </a:solidFill>
              </a:defRPr>
            </a:pPr>
            <a:r>
              <a:rPr sz="1200">
                <a:solidFill>
                  <a:srgbClr val="22263A"/>
                </a:solidFill>
              </a:rPr>
              <a:t>Base: 4 enemies every 360 frames</a:t>
            </a:r>
          </a:p>
          <a:p>
            <a:pPr>
              <a:defRPr sz="1200">
                <a:solidFill>
                  <a:srgbClr val="22263A"/>
                </a:solidFill>
              </a:defRPr>
            </a:pPr>
            <a:r>
              <a:rPr sz="1200">
                <a:solidFill>
                  <a:srgbClr val="22263A"/>
                </a:solidFill>
              </a:rPr>
              <a:t>Levels 1-6: 1.2x per level; then capped + 1 / level</a:t>
            </a:r>
          </a:p>
          <a:p>
            <a:pPr>
              <a:defRPr sz="1200">
                <a:solidFill>
                  <a:srgbClr val="22263A"/>
                </a:solidFill>
              </a:defRPr>
            </a:pPr>
            <a:r>
              <a:rPr sz="1200">
                <a:solidFill>
                  <a:srgbClr val="22263A"/>
                </a:solidFill>
              </a:rPr>
              <a:t>Every 5th level: one boss from a 5-object pool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2834FCCF-3802-429C-81EE-EB3BFFDD35E7}"/>
              </a:ext>
            </a:extLst>
          </p:cNvPr>
          <p:cNvSpPr>
            <a:spLocks noGrp="1"/>
          </p:cNvSpPr>
          <p:nvPr/>
        </p:nvSpPr>
        <p:spPr>
          <a:xfrm>
            <a:off x="685800" y="5981700"/>
            <a:ext cx="9906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2263A"/>
                </a:solidFill>
              </a:defRPr>
            </a:pPr>
            <a:r>
              <a:rPr sz="1275">
                <a:solidFill>
                  <a:srgbClr val="22263A"/>
                </a:solidFill>
              </a:rPr>
              <a:t>Normal spawns retry up to 10 times; boss spawns use r = 500-700 and retry up to 20 times.</a:t>
            </a:r>
          </a:p>
        </p:txBody>
      </p:sp>
    </p:spTree>
    <p:extLst>
      <p:ext uri="{BB962C8B-B14F-4D97-AF65-F5344CB8AC3E}">
        <p14:creationId xmlns:p14="http://schemas.microsoft.com/office/powerpoint/2010/main" val="2039444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EC943985-C932-417E-8064-8A58A565ABC9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28575"/>
          </a:xfrm>
          <a:prstGeom prst="rect">
            <a:avLst/>
          </a:prstGeom>
          <a:solidFill>
            <a:srgbClr val="C7A96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1646B5A-41FF-4F4F-A90D-72F7D0F38DC3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43B57"/>
                </a:solidFill>
              </a:defRPr>
            </a:pPr>
            <a:r>
              <a:rPr sz="1050" b="1" dirty="0">
                <a:solidFill>
                  <a:srgbClr val="343B57"/>
                </a:solidFill>
              </a:rPr>
              <a:t>0</a:t>
            </a:r>
            <a:r>
              <a:rPr lang="en-GB" sz="1050" b="1" dirty="0">
                <a:solidFill>
                  <a:srgbClr val="343B57"/>
                </a:solidFill>
              </a:rPr>
              <a:t>3</a:t>
            </a:r>
            <a:r>
              <a:rPr sz="1050" b="1" dirty="0">
                <a:solidFill>
                  <a:srgbClr val="343B57"/>
                </a:solidFill>
              </a:rPr>
              <a:t> |  RUNTIME LOGIC - TILE MAP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C250183-4DD7-4081-ADD7-7A889B7C57C2}"/>
              </a:ext>
            </a:extLst>
          </p:cNvPr>
          <p:cNvSpPr>
            <a:spLocks noGrp="1"/>
          </p:cNvSpPr>
          <p:nvPr/>
        </p:nvSpPr>
        <p:spPr>
          <a:xfrm>
            <a:off x="10839450" y="63055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C7A96D"/>
                </a:solidFill>
              </a:defRPr>
            </a:pPr>
            <a:r>
              <a:rPr sz="1200" b="1" dirty="0">
                <a:solidFill>
                  <a:srgbClr val="C7A96D"/>
                </a:solidFill>
              </a:rPr>
              <a:t>0</a:t>
            </a:r>
            <a:r>
              <a:rPr lang="en-GB" sz="1200" b="1" dirty="0">
                <a:solidFill>
                  <a:srgbClr val="C7A96D"/>
                </a:solidFill>
              </a:rPr>
              <a:t>9</a:t>
            </a:r>
            <a:endParaRPr sz="1200" b="1" dirty="0">
              <a:solidFill>
                <a:srgbClr val="C7A96D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BA6E78-5F3F-446D-AB26-0DB65009CFDA}"/>
              </a:ext>
            </a:extLst>
          </p:cNvPr>
          <p:cNvSpPr>
            <a:spLocks noGrp="1"/>
          </p:cNvSpPr>
          <p:nvPr/>
        </p:nvSpPr>
        <p:spPr>
          <a:xfrm>
            <a:off x="685800" y="695325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C7A96D"/>
                </a:solidFill>
              </a:defRPr>
            </a:pPr>
            <a:r>
              <a:rPr sz="1125" b="1">
                <a:solidFill>
                  <a:srgbClr val="C7A96D"/>
                </a:solidFill>
              </a:rPr>
              <a:t>TILE MAP: A 2D STRING ARRAY BECOMES A PLAYABLE ROOM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70FABA4-5BA8-4D4D-BF88-D17689E189C7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343B57"/>
                </a:solidFill>
              </a:defRPr>
            </a:pPr>
            <a:r>
              <a:rPr sz="3150" b="1">
                <a:solidFill>
                  <a:srgbClr val="343B57"/>
                </a:solidFill>
              </a:rPr>
              <a:t>A 2D Array Drives the Tile Map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97139E3-1667-43ED-AE06-5981AE41AFDD}"/>
              </a:ext>
            </a:extLst>
          </p:cNvPr>
          <p:cNvSpPr>
            <a:spLocks noGrp="1"/>
          </p:cNvSpPr>
          <p:nvPr/>
        </p:nvSpPr>
        <p:spPr>
          <a:xfrm>
            <a:off x="685800" y="1685925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22263A"/>
                </a:solidFill>
              </a:defRPr>
            </a:pPr>
            <a:r>
              <a:rPr sz="1500">
                <a:solidFill>
                  <a:srgbClr val="22263A"/>
                </a:solidFill>
              </a:rPr>
              <a:t>Initialization generates a 60 × 55 string array. Each string selects one source tile sprite and positions it on the grid.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2FF9DAAC-A043-474F-88F6-7F9A3AC6A390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5657850" cy="3143250"/>
          </a:xfrm>
          <a:prstGeom prst="roundRect">
            <a:avLst>
              <a:gd name="adj" fmla="val 2424"/>
            </a:avLst>
          </a:prstGeom>
          <a:solidFill>
            <a:srgbClr val="343B57"/>
          </a:solidFill>
          <a:ln w="0">
            <a:solidFill>
              <a:srgbClr val="343B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37B860F-51B4-45B7-B4A0-8903EF915C47}"/>
              </a:ext>
            </a:extLst>
          </p:cNvPr>
          <p:cNvSpPr>
            <a:spLocks noGrp="1"/>
          </p:cNvSpPr>
          <p:nvPr/>
        </p:nvSpPr>
        <p:spPr>
          <a:xfrm>
            <a:off x="1009650" y="2686050"/>
            <a:ext cx="400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F0EDE3"/>
                </a:solidFill>
              </a:defRPr>
            </a:pPr>
            <a:r>
              <a:rPr sz="1650" b="1">
                <a:solidFill>
                  <a:srgbClr val="F0EDE3"/>
                </a:solidFill>
              </a:rPr>
              <a:t>generateTileMap(60, 55)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41F7F5A-735D-419F-851C-C4F60C04956D}"/>
              </a:ext>
            </a:extLst>
          </p:cNvPr>
          <p:cNvSpPr>
            <a:spLocks noGrp="1"/>
          </p:cNvSpPr>
          <p:nvPr/>
        </p:nvSpPr>
        <p:spPr>
          <a:xfrm>
            <a:off x="1066800" y="321945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C7A96D"/>
                </a:solidFill>
              </a:defRPr>
            </a:pPr>
            <a:r>
              <a:rPr sz="1200">
                <a:solidFill>
                  <a:srgbClr val="C7A96D"/>
                </a:solidFill>
              </a:rPr>
              <a:t>wallTop    wallTop    wallTop    wallTop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A4644F-AB59-4FE1-AFCA-16799670C14A}"/>
              </a:ext>
            </a:extLst>
          </p:cNvPr>
          <p:cNvSpPr>
            <a:spLocks noGrp="1"/>
          </p:cNvSpPr>
          <p:nvPr/>
        </p:nvSpPr>
        <p:spPr>
          <a:xfrm>
            <a:off x="1066800" y="358140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F0EDE3"/>
                </a:solidFill>
              </a:defRPr>
            </a:pPr>
            <a:r>
              <a:rPr sz="1200">
                <a:solidFill>
                  <a:srgbClr val="F0EDE3"/>
                </a:solidFill>
              </a:rPr>
              <a:t>LeftWall   wallCenter wallCenter RightWall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85D0FD2-8642-420E-BA1D-7C2F44F22CB2}"/>
              </a:ext>
            </a:extLst>
          </p:cNvPr>
          <p:cNvSpPr>
            <a:spLocks noGrp="1"/>
          </p:cNvSpPr>
          <p:nvPr/>
        </p:nvSpPr>
        <p:spPr>
          <a:xfrm>
            <a:off x="1066800" y="394335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F0EDE3"/>
                </a:solidFill>
              </a:defRPr>
            </a:pPr>
            <a:r>
              <a:rPr sz="1200">
                <a:solidFill>
                  <a:srgbClr val="F0EDE3"/>
                </a:solidFill>
              </a:rPr>
              <a:t>LeftWall   texture1Floor floor    RightWall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7C82E53-36FC-4193-880E-DD72F813A636}"/>
              </a:ext>
            </a:extLst>
          </p:cNvPr>
          <p:cNvSpPr>
            <a:spLocks noGrp="1"/>
          </p:cNvSpPr>
          <p:nvPr/>
        </p:nvSpPr>
        <p:spPr>
          <a:xfrm>
            <a:off x="1066800" y="430530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F0EDE3"/>
                </a:solidFill>
              </a:defRPr>
            </a:pPr>
            <a:r>
              <a:rPr sz="1200">
                <a:solidFill>
                  <a:srgbClr val="F0EDE3"/>
                </a:solidFill>
              </a:rPr>
              <a:t>LeftWall   floor      texture2Floor RightWall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60A3A51-C723-46BB-BE8F-76961FE5AEDE}"/>
              </a:ext>
            </a:extLst>
          </p:cNvPr>
          <p:cNvSpPr>
            <a:spLocks noGrp="1"/>
          </p:cNvSpPr>
          <p:nvPr/>
        </p:nvSpPr>
        <p:spPr>
          <a:xfrm>
            <a:off x="1066800" y="4667250"/>
            <a:ext cx="47625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C7A96D"/>
                </a:solidFill>
              </a:defRPr>
            </a:pPr>
            <a:r>
              <a:rPr sz="1200">
                <a:solidFill>
                  <a:srgbClr val="C7A96D"/>
                </a:solidFill>
              </a:rPr>
              <a:t>bottomWall bottomWall bottomWall bottomWall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C960900-E5E6-4F0C-8B21-2AC3CD49E556}"/>
              </a:ext>
            </a:extLst>
          </p:cNvPr>
          <p:cNvSpPr>
            <a:spLocks noGrp="1"/>
          </p:cNvSpPr>
          <p:nvPr/>
        </p:nvSpPr>
        <p:spPr>
          <a:xfrm>
            <a:off x="1028700" y="5067300"/>
            <a:ext cx="4000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F0EDE3"/>
                </a:solidFill>
              </a:defRPr>
            </a:pPr>
            <a:r>
              <a:rPr sz="1275">
                <a:solidFill>
                  <a:srgbClr val="F0EDE3"/>
                </a:solidFill>
              </a:rPr>
              <a:t>Border cells become walls; interior cells mix two textured floors at a density of 0.3.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58C11D8-355D-4E23-99DF-F9F1C078ED55}"/>
              </a:ext>
            </a:extLst>
          </p:cNvPr>
          <p:cNvSpPr>
            <a:spLocks noGrp="1"/>
          </p:cNvSpPr>
          <p:nvPr/>
        </p:nvSpPr>
        <p:spPr>
          <a:xfrm>
            <a:off x="6800850" y="2381250"/>
            <a:ext cx="4705350" cy="314325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CAD1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10425" y="2571750"/>
            <a:ext cx="1485900" cy="2628900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7B5C7ADE-37F6-46AF-85D6-C8020BD52EF5}"/>
              </a:ext>
            </a:extLst>
          </p:cNvPr>
          <p:cNvSpPr>
            <a:spLocks noGrp="1"/>
          </p:cNvSpPr>
          <p:nvPr/>
        </p:nvSpPr>
        <p:spPr>
          <a:xfrm>
            <a:off x="9048750" y="2686050"/>
            <a:ext cx="200025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343B57"/>
                </a:solidFill>
              </a:defRPr>
            </a:pPr>
            <a:r>
              <a:rPr sz="1800" b="1">
                <a:solidFill>
                  <a:srgbClr val="343B57"/>
                </a:solidFill>
              </a:rPr>
              <a:t>Mapping and rendering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3D870B9-965F-4D80-9913-187230E85D9A}"/>
              </a:ext>
            </a:extLst>
          </p:cNvPr>
          <p:cNvSpPr>
            <a:spLocks noGrp="1"/>
          </p:cNvSpPr>
          <p:nvPr/>
        </p:nvSpPr>
        <p:spPr>
          <a:xfrm>
            <a:off x="9067800" y="3267075"/>
            <a:ext cx="2133600" cy="1143000"/>
          </a:xfrm>
          <a:prstGeom prst="roundRect">
            <a:avLst>
              <a:gd name="adj" fmla="val 5000"/>
            </a:avLst>
          </a:prstGeom>
          <a:solidFill>
            <a:srgbClr val="22263A"/>
          </a:solidFill>
          <a:ln w="0">
            <a:solidFill>
              <a:srgbClr val="2226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A267791-05EA-41AD-B620-91748CB40D65}"/>
              </a:ext>
            </a:extLst>
          </p:cNvPr>
          <p:cNvSpPr>
            <a:spLocks noGrp="1"/>
          </p:cNvSpPr>
          <p:nvPr/>
        </p:nvSpPr>
        <p:spPr>
          <a:xfrm>
            <a:off x="9258300" y="3314700"/>
            <a:ext cx="17145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tile = choose(name)</a:t>
            </a:r>
          </a:p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store(tile)</a:t>
            </a:r>
          </a:p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place(tile, grid_pos)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5BDCD25-3D8A-4B30-A97C-F88A4BA6BC20}"/>
              </a:ext>
            </a:extLst>
          </p:cNvPr>
          <p:cNvSpPr>
            <a:spLocks noGrp="1"/>
          </p:cNvSpPr>
          <p:nvPr/>
        </p:nvSpPr>
        <p:spPr>
          <a:xfrm>
            <a:off x="9067800" y="4476750"/>
            <a:ext cx="20002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22263A"/>
                </a:solidFill>
              </a:defRPr>
            </a:pPr>
            <a:r>
              <a:rPr sz="1275">
                <a:solidFill>
                  <a:srgbClr val="22263A"/>
                </a:solidFill>
              </a:rPr>
              <a:t>tile_sprites is also the collection moved by the camera system when the world scrolls.</a:t>
            </a:r>
          </a:p>
        </p:txBody>
      </p:sp>
    </p:spTree>
    <p:extLst>
      <p:ext uri="{BB962C8B-B14F-4D97-AF65-F5344CB8AC3E}">
        <p14:creationId xmlns:p14="http://schemas.microsoft.com/office/powerpoint/2010/main" val="7576977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6D24E5E3-04B6-468F-9C77-5AC71E737CE9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28575"/>
          </a:xfrm>
          <a:prstGeom prst="rect">
            <a:avLst/>
          </a:prstGeom>
          <a:solidFill>
            <a:srgbClr val="C7A96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0CB3628-E934-488A-A696-89266DFB1799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43B57"/>
                </a:solidFill>
              </a:defRPr>
            </a:pPr>
            <a:r>
              <a:rPr sz="1050" b="1" dirty="0">
                <a:solidFill>
                  <a:srgbClr val="343B57"/>
                </a:solidFill>
              </a:rPr>
              <a:t>0</a:t>
            </a:r>
            <a:r>
              <a:rPr lang="en-GB" sz="1050" b="1" dirty="0">
                <a:solidFill>
                  <a:srgbClr val="343B57"/>
                </a:solidFill>
              </a:rPr>
              <a:t>3</a:t>
            </a:r>
            <a:r>
              <a:rPr sz="1050" b="1" dirty="0">
                <a:solidFill>
                  <a:srgbClr val="343B57"/>
                </a:solidFill>
              </a:rPr>
              <a:t>  |  RUNTIME LOGIC - LIGHTING &amp; UI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E424D0C-8054-4783-B6D1-FBB2C71E7BBE}"/>
              </a:ext>
            </a:extLst>
          </p:cNvPr>
          <p:cNvSpPr>
            <a:spLocks noGrp="1"/>
          </p:cNvSpPr>
          <p:nvPr/>
        </p:nvSpPr>
        <p:spPr>
          <a:xfrm>
            <a:off x="10839450" y="63055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C7A96D"/>
                </a:solidFill>
              </a:defRPr>
            </a:pPr>
            <a:r>
              <a:rPr lang="en-GB" sz="1200" b="1" dirty="0">
                <a:solidFill>
                  <a:srgbClr val="C7A96D"/>
                </a:solidFill>
              </a:rPr>
              <a:t>10</a:t>
            </a:r>
            <a:endParaRPr sz="1200" b="1" dirty="0">
              <a:solidFill>
                <a:srgbClr val="C7A96D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865034-4457-4571-B81E-602BCBBAEA80}"/>
              </a:ext>
            </a:extLst>
          </p:cNvPr>
          <p:cNvSpPr>
            <a:spLocks noGrp="1"/>
          </p:cNvSpPr>
          <p:nvPr/>
        </p:nvSpPr>
        <p:spPr>
          <a:xfrm>
            <a:off x="685800" y="695325"/>
            <a:ext cx="533400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C7A96D"/>
                </a:solidFill>
              </a:defRPr>
            </a:pPr>
            <a:r>
              <a:rPr sz="1125" b="1">
                <a:solidFill>
                  <a:srgbClr val="C7A96D"/>
                </a:solidFill>
              </a:rPr>
              <a:t>LIGHTING &amp; UI: REAL-TIME PLAYER FEEDBACK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638DEC1-CF9F-4216-A4E5-BB8F4712EDD0}"/>
              </a:ext>
            </a:extLst>
          </p:cNvPr>
          <p:cNvSpPr>
            <a:spLocks noGrp="1"/>
          </p:cNvSpPr>
          <p:nvPr/>
        </p:nvSpPr>
        <p:spPr>
          <a:xfrm>
            <a:off x="685800" y="1028700"/>
            <a:ext cx="98107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150" b="1">
                <a:solidFill>
                  <a:srgbClr val="343B57"/>
                </a:solidFill>
              </a:defRPr>
            </a:pPr>
            <a:r>
              <a:rPr sz="3150" b="1">
                <a:solidFill>
                  <a:srgbClr val="343B57"/>
                </a:solidFill>
              </a:rPr>
              <a:t>Lighting and UI Feed the Same State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D85B613-375B-44B7-826B-01F7D6FA1127}"/>
              </a:ext>
            </a:extLst>
          </p:cNvPr>
          <p:cNvSpPr>
            <a:spLocks noGrp="1"/>
          </p:cNvSpPr>
          <p:nvPr/>
        </p:nvSpPr>
        <p:spPr>
          <a:xfrm>
            <a:off x="685800" y="1685925"/>
            <a:ext cx="8572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>
                <a:solidFill>
                  <a:srgbClr val="22263A"/>
                </a:solidFill>
              </a:defRPr>
            </a:pPr>
            <a:r>
              <a:rPr sz="1500">
                <a:solidFill>
                  <a:srgbClr val="22263A"/>
                </a:solidFill>
              </a:rPr>
              <a:t>A translucent light overlay follows the player's center, while HP, XP, level, and kill count update inside the main loop.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5EBF585-F4CF-4464-ADC4-4E1F49795970}"/>
              </a:ext>
            </a:extLst>
          </p:cNvPr>
          <p:cNvSpPr>
            <a:spLocks noGrp="1"/>
          </p:cNvSpPr>
          <p:nvPr/>
        </p:nvSpPr>
        <p:spPr>
          <a:xfrm>
            <a:off x="685800" y="2381250"/>
            <a:ext cx="4514850" cy="2857500"/>
          </a:xfrm>
          <a:prstGeom prst="roundRect">
            <a:avLst>
              <a:gd name="adj" fmla="val 2667"/>
            </a:avLst>
          </a:prstGeom>
          <a:solidFill>
            <a:srgbClr val="343B57"/>
          </a:solidFill>
          <a:ln w="0">
            <a:solidFill>
              <a:srgbClr val="343B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AA524190-71B4-4F92-8FE5-5606DF107857}"/>
              </a:ext>
            </a:extLst>
          </p:cNvPr>
          <p:cNvSpPr>
            <a:spLocks noGrp="1"/>
          </p:cNvSpPr>
          <p:nvPr/>
        </p:nvSpPr>
        <p:spPr>
          <a:xfrm>
            <a:off x="1257300" y="2895600"/>
            <a:ext cx="3371850" cy="1809750"/>
          </a:xfrm>
          <a:prstGeom prst="roundRect">
            <a:avLst>
              <a:gd name="adj" fmla="val 4211"/>
            </a:avLst>
          </a:prstGeom>
          <a:solidFill>
            <a:srgbClr val="101728"/>
          </a:solidFill>
          <a:ln w="0">
            <a:solidFill>
              <a:srgbClr val="10172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503A1C1-F62B-4F28-9C27-4040BA1C586C}"/>
              </a:ext>
            </a:extLst>
          </p:cNvPr>
          <p:cNvSpPr>
            <a:spLocks noGrp="1"/>
          </p:cNvSpPr>
          <p:nvPr/>
        </p:nvSpPr>
        <p:spPr>
          <a:xfrm>
            <a:off x="2028825" y="3190875"/>
            <a:ext cx="1828800" cy="1219200"/>
          </a:xfrm>
          <a:prstGeom prst="roundRect">
            <a:avLst>
              <a:gd name="adj" fmla="val 46875"/>
            </a:avLst>
          </a:prstGeom>
          <a:solidFill>
            <a:srgbClr val="F0EDE3">
              <a:alpha val="20000"/>
            </a:srgbClr>
          </a:solidFill>
          <a:ln w="0">
            <a:solidFill>
              <a:srgbClr val="F0EDE3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603971A-80AA-44A2-BC37-2475477D2B1C}"/>
              </a:ext>
            </a:extLst>
          </p:cNvPr>
          <p:cNvSpPr>
            <a:spLocks noGrp="1"/>
          </p:cNvSpPr>
          <p:nvPr/>
        </p:nvSpPr>
        <p:spPr>
          <a:xfrm>
            <a:off x="1562100" y="26098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C7A96D"/>
                </a:solidFill>
              </a:defRPr>
            </a:pPr>
            <a:r>
              <a:rPr sz="1500" b="1">
                <a:solidFill>
                  <a:srgbClr val="C7A96D"/>
                </a:solidFill>
              </a:rPr>
              <a:t>lightCover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DC2D5C8-4B65-4901-B9F7-A2416E7E2892}"/>
              </a:ext>
            </a:extLst>
          </p:cNvPr>
          <p:cNvSpPr>
            <a:spLocks noGrp="1"/>
          </p:cNvSpPr>
          <p:nvPr/>
        </p:nvSpPr>
        <p:spPr>
          <a:xfrm>
            <a:off x="1257300" y="4629150"/>
            <a:ext cx="3476625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>
                <a:solidFill>
                  <a:srgbClr val="F0EDE3"/>
                </a:solidFill>
              </a:defRPr>
            </a:pPr>
            <a:r>
              <a:rPr sz="1275">
                <a:solidFill>
                  <a:srgbClr val="F0EDE3"/>
                </a:solidFill>
              </a:rPr>
              <a:t>Fixed at width / 2, height / 2</a:t>
            </a:r>
          </a:p>
          <a:p>
            <a:pPr>
              <a:defRPr sz="1275">
                <a:solidFill>
                  <a:srgbClr val="F0EDE3"/>
                </a:solidFill>
              </a:defRPr>
            </a:pPr>
            <a:r>
              <a:rPr sz="1275">
                <a:solidFill>
                  <a:srgbClr val="F0EDE3"/>
                </a:solidFill>
              </a:rPr>
              <a:t>A shot briefly raises the muzzle-light alpha.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1006DAB1-F192-46C2-BA39-56490A3483D0}"/>
              </a:ext>
            </a:extLst>
          </p:cNvPr>
          <p:cNvSpPr>
            <a:spLocks noGrp="1"/>
          </p:cNvSpPr>
          <p:nvPr/>
        </p:nvSpPr>
        <p:spPr>
          <a:xfrm>
            <a:off x="5715000" y="2381250"/>
            <a:ext cx="5791200" cy="28575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9525">
            <a:solidFill>
              <a:srgbClr val="CAD1D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D368E5B-5120-4A5D-A63F-4782069CA272}"/>
              </a:ext>
            </a:extLst>
          </p:cNvPr>
          <p:cNvSpPr>
            <a:spLocks noGrp="1"/>
          </p:cNvSpPr>
          <p:nvPr/>
        </p:nvSpPr>
        <p:spPr>
          <a:xfrm>
            <a:off x="6057900" y="2686050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75" b="1">
                <a:solidFill>
                  <a:srgbClr val="343B57"/>
                </a:solidFill>
              </a:defRPr>
            </a:pPr>
            <a:r>
              <a:rPr sz="1875" b="1">
                <a:solidFill>
                  <a:srgbClr val="343B57"/>
                </a:solidFill>
              </a:rPr>
              <a:t>HUD STATE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D9EF912-829C-42DF-87D9-D58CEF8A0518}"/>
              </a:ext>
            </a:extLst>
          </p:cNvPr>
          <p:cNvSpPr>
            <a:spLocks noGrp="1"/>
          </p:cNvSpPr>
          <p:nvPr/>
        </p:nvSpPr>
        <p:spPr>
          <a:xfrm>
            <a:off x="6076950" y="321945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343B57"/>
                </a:solidFill>
              </a:defRPr>
            </a:pPr>
            <a:r>
              <a:rPr sz="1350" b="1">
                <a:solidFill>
                  <a:srgbClr val="343B57"/>
                </a:solidFill>
              </a:rPr>
              <a:t>HP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86015D5B-F495-438D-9132-05EA8B348033}"/>
              </a:ext>
            </a:extLst>
          </p:cNvPr>
          <p:cNvSpPr>
            <a:spLocks noGrp="1"/>
          </p:cNvSpPr>
          <p:nvPr/>
        </p:nvSpPr>
        <p:spPr>
          <a:xfrm>
            <a:off x="6667500" y="3238500"/>
            <a:ext cx="3333750" cy="152400"/>
          </a:xfrm>
          <a:prstGeom prst="roundRect">
            <a:avLst>
              <a:gd name="adj" fmla="val 18750"/>
            </a:avLst>
          </a:prstGeom>
          <a:solidFill>
            <a:srgbClr val="22263A"/>
          </a:solidFill>
          <a:ln w="0">
            <a:solidFill>
              <a:srgbClr val="2226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3FAE30B3-458A-4E86-976F-871FB6F4BB6D}"/>
              </a:ext>
            </a:extLst>
          </p:cNvPr>
          <p:cNvSpPr>
            <a:spLocks noGrp="1"/>
          </p:cNvSpPr>
          <p:nvPr/>
        </p:nvSpPr>
        <p:spPr>
          <a:xfrm>
            <a:off x="6667500" y="3238500"/>
            <a:ext cx="2400300" cy="152400"/>
          </a:xfrm>
          <a:prstGeom prst="roundRect">
            <a:avLst>
              <a:gd name="adj" fmla="val 18750"/>
            </a:avLst>
          </a:prstGeom>
          <a:solidFill>
            <a:srgbClr val="D4A097"/>
          </a:solidFill>
          <a:ln w="0">
            <a:solidFill>
              <a:srgbClr val="D4A09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0E6D452-B42C-49C8-B6B0-F4A0EE6190BD}"/>
              </a:ext>
            </a:extLst>
          </p:cNvPr>
          <p:cNvSpPr>
            <a:spLocks noGrp="1"/>
          </p:cNvSpPr>
          <p:nvPr/>
        </p:nvSpPr>
        <p:spPr>
          <a:xfrm>
            <a:off x="6076950" y="3695700"/>
            <a:ext cx="457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343B57"/>
                </a:solidFill>
              </a:defRPr>
            </a:pPr>
            <a:r>
              <a:rPr sz="1350" b="1">
                <a:solidFill>
                  <a:srgbClr val="343B57"/>
                </a:solidFill>
              </a:rPr>
              <a:t>XP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9270738-C88A-40C5-A795-133D32C160CA}"/>
              </a:ext>
            </a:extLst>
          </p:cNvPr>
          <p:cNvSpPr>
            <a:spLocks noGrp="1"/>
          </p:cNvSpPr>
          <p:nvPr/>
        </p:nvSpPr>
        <p:spPr>
          <a:xfrm>
            <a:off x="6667500" y="3714750"/>
            <a:ext cx="3333750" cy="114300"/>
          </a:xfrm>
          <a:prstGeom prst="roundRect">
            <a:avLst>
              <a:gd name="adj" fmla="val 25000"/>
            </a:avLst>
          </a:prstGeom>
          <a:solidFill>
            <a:srgbClr val="22263A"/>
          </a:solidFill>
          <a:ln w="0">
            <a:solidFill>
              <a:srgbClr val="2226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F5EC28A0-DCFB-4029-8063-F8DD6ECB8621}"/>
              </a:ext>
            </a:extLst>
          </p:cNvPr>
          <p:cNvSpPr>
            <a:spLocks noGrp="1"/>
          </p:cNvSpPr>
          <p:nvPr/>
        </p:nvSpPr>
        <p:spPr>
          <a:xfrm>
            <a:off x="6667500" y="3714750"/>
            <a:ext cx="1885950" cy="114300"/>
          </a:xfrm>
          <a:prstGeom prst="roundRect">
            <a:avLst>
              <a:gd name="adj" fmla="val 25000"/>
            </a:avLst>
          </a:prstGeom>
          <a:solidFill>
            <a:srgbClr val="71805A"/>
          </a:solidFill>
          <a:ln w="0">
            <a:solidFill>
              <a:srgbClr val="71805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7E25A36-8BAF-4911-A4C7-F90EA6FE8E7C}"/>
              </a:ext>
            </a:extLst>
          </p:cNvPr>
          <p:cNvSpPr>
            <a:spLocks noGrp="1"/>
          </p:cNvSpPr>
          <p:nvPr/>
        </p:nvSpPr>
        <p:spPr>
          <a:xfrm>
            <a:off x="10287000" y="3181350"/>
            <a:ext cx="8096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500" b="1">
                <a:solidFill>
                  <a:srgbClr val="343B57"/>
                </a:solidFill>
              </a:defRPr>
            </a:pPr>
            <a:r>
              <a:rPr sz="1500" b="1">
                <a:solidFill>
                  <a:srgbClr val="343B57"/>
                </a:solidFill>
              </a:rPr>
              <a:t>LV: 4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E88521F-19ED-489C-9265-7CA2B9DC7205}"/>
              </a:ext>
            </a:extLst>
          </p:cNvPr>
          <p:cNvSpPr>
            <a:spLocks noGrp="1"/>
          </p:cNvSpPr>
          <p:nvPr/>
        </p:nvSpPr>
        <p:spPr>
          <a:xfrm>
            <a:off x="10287000" y="3657600"/>
            <a:ext cx="1000125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b="1">
                <a:solidFill>
                  <a:srgbClr val="C7A96D"/>
                </a:solidFill>
              </a:defRPr>
            </a:pPr>
            <a:r>
              <a:rPr sz="1350" b="1">
                <a:solidFill>
                  <a:srgbClr val="C7A96D"/>
                </a:solidFill>
              </a:rPr>
              <a:t>KILLS: 27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D808E82-BE27-48C8-A160-6850ACFAD8B4}"/>
              </a:ext>
            </a:extLst>
          </p:cNvPr>
          <p:cNvSpPr>
            <a:spLocks noGrp="1"/>
          </p:cNvSpPr>
          <p:nvPr/>
        </p:nvSpPr>
        <p:spPr>
          <a:xfrm>
            <a:off x="6057900" y="4095750"/>
            <a:ext cx="4762500" cy="952500"/>
          </a:xfrm>
          <a:prstGeom prst="roundRect">
            <a:avLst>
              <a:gd name="adj" fmla="val 6000"/>
            </a:avLst>
          </a:prstGeom>
          <a:solidFill>
            <a:srgbClr val="22263A"/>
          </a:solidFill>
          <a:ln w="0">
            <a:solidFill>
              <a:srgbClr val="22263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F15F9729-8E24-4232-BFB5-8A8C8A8221E8}"/>
              </a:ext>
            </a:extLst>
          </p:cNvPr>
          <p:cNvSpPr>
            <a:spLocks noGrp="1"/>
          </p:cNvSpPr>
          <p:nvPr/>
        </p:nvSpPr>
        <p:spPr>
          <a:xfrm>
            <a:off x="6267450" y="4248150"/>
            <a:ext cx="4343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hpRatio = player_hp / player_max_hp</a:t>
            </a:r>
          </a:p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xpRatio = player_kills / xpNeed</a:t>
            </a:r>
          </a:p>
          <a:p>
            <a:pPr>
              <a:defRPr sz="1350">
                <a:solidFill>
                  <a:srgbClr val="F0EDE3"/>
                </a:solidFill>
              </a:defRPr>
            </a:pPr>
            <a:r>
              <a:rPr sz="1350">
                <a:solidFill>
                  <a:srgbClr val="F0EDE3"/>
                </a:solidFill>
              </a:rPr>
              <a:t>update_scale(fill, [ratio, 1])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CE1BECF-756D-4603-AFA6-A2835567E0D4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914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22263A"/>
                </a:solidFill>
              </a:defRPr>
            </a:pPr>
            <a:r>
              <a:rPr sz="1350">
                <a:solidFill>
                  <a:srgbClr val="22263A"/>
                </a:solidFill>
              </a:rPr>
              <a:t>表现与逻辑共享同一套状态变量，玩家能立即读懂自身风险与升级进度。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EEACFFC-96D7-45F6-9525-26F520A947BA}"/>
              </a:ext>
            </a:extLst>
          </p:cNvPr>
          <p:cNvSpPr>
            <a:spLocks noGrp="1"/>
          </p:cNvSpPr>
          <p:nvPr/>
        </p:nvSpPr>
        <p:spPr>
          <a:xfrm>
            <a:off x="619125" y="5543550"/>
            <a:ext cx="9429750" cy="457200"/>
          </a:xfrm>
          <a:prstGeom prst="rect">
            <a:avLst/>
          </a:prstGeom>
          <a:solidFill>
            <a:srgbClr val="F0EDE3"/>
          </a:solidFill>
          <a:ln w="0">
            <a:solidFill>
              <a:srgbClr val="F0ED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1EAF002-95F7-478E-9FB2-2B9D45E06249}"/>
              </a:ext>
            </a:extLst>
          </p:cNvPr>
          <p:cNvSpPr>
            <a:spLocks noGrp="1"/>
          </p:cNvSpPr>
          <p:nvPr/>
        </p:nvSpPr>
        <p:spPr>
          <a:xfrm>
            <a:off x="685800" y="5619750"/>
            <a:ext cx="914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22263A"/>
                </a:solidFill>
              </a:defRPr>
            </a:pPr>
            <a:r>
              <a:rPr sz="1350">
                <a:solidFill>
                  <a:srgbClr val="22263A"/>
                </a:solidFill>
              </a:rPr>
              <a:t>Rendering and logic share state variables, so players can read risk, progression, and reward timing immediately.</a:t>
            </a:r>
          </a:p>
        </p:txBody>
      </p:sp>
    </p:spTree>
    <p:extLst>
      <p:ext uri="{BB962C8B-B14F-4D97-AF65-F5344CB8AC3E}">
        <p14:creationId xmlns:p14="http://schemas.microsoft.com/office/powerpoint/2010/main" val="1711404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AADBE1B4-4A67-470E-ADFE-9E9C36DAFDED}"/>
              </a:ext>
            </a:extLst>
          </p:cNvPr>
          <p:cNvSpPr>
            <a:spLocks noGrp="1"/>
          </p:cNvSpPr>
          <p:nvPr/>
        </p:nvSpPr>
        <p:spPr>
          <a:xfrm>
            <a:off x="685800" y="361950"/>
            <a:ext cx="10820400" cy="28575"/>
          </a:xfrm>
          <a:prstGeom prst="rect">
            <a:avLst/>
          </a:prstGeom>
          <a:solidFill>
            <a:srgbClr val="C7A96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3A5C745-DA0C-4995-9B71-10966FA0ABCD}"/>
              </a:ext>
            </a:extLst>
          </p:cNvPr>
          <p:cNvSpPr>
            <a:spLocks noGrp="1"/>
          </p:cNvSpPr>
          <p:nvPr/>
        </p:nvSpPr>
        <p:spPr>
          <a:xfrm>
            <a:off x="685800" y="6334125"/>
            <a:ext cx="7239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343B57"/>
                </a:solidFill>
              </a:defRPr>
            </a:pPr>
            <a:r>
              <a:rPr sz="1050" b="1">
                <a:solidFill>
                  <a:srgbClr val="343B57"/>
                </a:solidFill>
              </a:rPr>
              <a:t>SWS3012_05  |  NEVER FADE AWAY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559FBE-99EF-4194-BBAD-C11FE878C0DE}"/>
              </a:ext>
            </a:extLst>
          </p:cNvPr>
          <p:cNvSpPr>
            <a:spLocks noGrp="1"/>
          </p:cNvSpPr>
          <p:nvPr/>
        </p:nvSpPr>
        <p:spPr>
          <a:xfrm>
            <a:off x="10839450" y="6305550"/>
            <a:ext cx="666750" cy="2381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 b="1">
                <a:solidFill>
                  <a:srgbClr val="C7A96D"/>
                </a:solidFill>
              </a:defRPr>
            </a:pPr>
            <a:r>
              <a:rPr sz="1200" b="1">
                <a:solidFill>
                  <a:srgbClr val="C7A96D"/>
                </a:solidFill>
              </a:rPr>
              <a:t>11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DFFD60D6-FD64-4946-BB95-E8DB17BA3E0E}"/>
              </a:ext>
            </a:extLst>
          </p:cNvPr>
          <p:cNvSpPr>
            <a:spLocks noGrp="1"/>
          </p:cNvSpPr>
          <p:nvPr/>
        </p:nvSpPr>
        <p:spPr>
          <a:xfrm>
            <a:off x="685800" y="1238250"/>
            <a:ext cx="10820400" cy="3733800"/>
          </a:xfrm>
          <a:prstGeom prst="roundRect">
            <a:avLst>
              <a:gd name="adj" fmla="val 2041"/>
            </a:avLst>
          </a:prstGeom>
          <a:solidFill>
            <a:srgbClr val="343B57"/>
          </a:solidFill>
          <a:ln w="0">
            <a:solidFill>
              <a:srgbClr val="343B5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4701127-556E-4F4D-941A-4F4451E74199}"/>
              </a:ext>
            </a:extLst>
          </p:cNvPr>
          <p:cNvSpPr>
            <a:spLocks noGrp="1"/>
          </p:cNvSpPr>
          <p:nvPr/>
        </p:nvSpPr>
        <p:spPr>
          <a:xfrm>
            <a:off x="1219200" y="1952625"/>
            <a:ext cx="561975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450" b="1">
                <a:solidFill>
                  <a:srgbClr val="F0EDE3"/>
                </a:solidFill>
              </a:defRPr>
            </a:pPr>
            <a:r>
              <a:rPr sz="3450" b="1">
                <a:solidFill>
                  <a:srgbClr val="F0EDE3"/>
                </a:solidFill>
              </a:rPr>
              <a:t>SURVIVE.</a:t>
            </a:r>
          </a:p>
          <a:p>
            <a:pPr>
              <a:defRPr sz="3450" b="1">
                <a:solidFill>
                  <a:srgbClr val="F0EDE3"/>
                </a:solidFill>
              </a:defRPr>
            </a:pPr>
            <a:r>
              <a:rPr sz="3450" b="1">
                <a:solidFill>
                  <a:srgbClr val="F0EDE3"/>
                </a:solidFill>
              </a:rPr>
              <a:t>LEVEL UP.</a:t>
            </a:r>
          </a:p>
          <a:p>
            <a:pPr>
              <a:defRPr sz="3450" b="1">
                <a:solidFill>
                  <a:srgbClr val="F0EDE3"/>
                </a:solidFill>
              </a:defRPr>
            </a:pPr>
            <a:r>
              <a:rPr sz="3450" b="1">
                <a:solidFill>
                  <a:srgbClr val="F0EDE3"/>
                </a:solidFill>
              </a:rPr>
              <a:t>CLAIM THE REWARD.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F2D9938-9949-4150-89BD-7621164EC394}"/>
              </a:ext>
            </a:extLst>
          </p:cNvPr>
          <p:cNvSpPr>
            <a:spLocks noGrp="1"/>
          </p:cNvSpPr>
          <p:nvPr/>
        </p:nvSpPr>
        <p:spPr>
          <a:xfrm>
            <a:off x="1238250" y="3962400"/>
            <a:ext cx="5143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>
                <a:solidFill>
                  <a:srgbClr val="C7A96D"/>
                </a:solidFill>
              </a:defRPr>
            </a:pPr>
            <a:r>
              <a:rPr sz="1650">
                <a:solidFill>
                  <a:srgbClr val="C7A96D"/>
                </a:solidFill>
              </a:rPr>
              <a:t>The Punishment of the Peanut Butter God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A69C1E5B-06A8-4391-8E39-212881708269}"/>
              </a:ext>
            </a:extLst>
          </p:cNvPr>
          <p:cNvSpPr>
            <a:spLocks noGrp="1"/>
          </p:cNvSpPr>
          <p:nvPr/>
        </p:nvSpPr>
        <p:spPr>
          <a:xfrm>
            <a:off x="8362950" y="1666875"/>
            <a:ext cx="2076450" cy="2438400"/>
          </a:xfrm>
          <a:prstGeom prst="roundRect">
            <a:avLst>
              <a:gd name="adj" fmla="val 3670"/>
            </a:avLst>
          </a:prstGeom>
          <a:solidFill>
            <a:srgbClr val="E8E5DA"/>
          </a:solidFill>
          <a:ln w="0">
            <a:solidFill>
              <a:srgbClr val="E8E5D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048750" y="2190750"/>
            <a:ext cx="742950" cy="74295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105900" y="3086100"/>
            <a:ext cx="685800" cy="6858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91B7F22B-D7EF-4FF8-8151-F378BB1BB02F}"/>
              </a:ext>
            </a:extLst>
          </p:cNvPr>
          <p:cNvSpPr>
            <a:spLocks noGrp="1"/>
          </p:cNvSpPr>
          <p:nvPr/>
        </p:nvSpPr>
        <p:spPr>
          <a:xfrm>
            <a:off x="8629650" y="4343400"/>
            <a:ext cx="157162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425" b="1">
                <a:solidFill>
                  <a:srgbClr val="343B57"/>
                </a:solidFill>
              </a:defRPr>
            </a:pPr>
            <a:r>
              <a:rPr sz="1425" b="1">
                <a:solidFill>
                  <a:srgbClr val="343B57"/>
                </a:solidFill>
              </a:rPr>
              <a:t>THANK YOU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F98DD1F-EBCC-4ECE-8470-BC2D9BE8F3F0}"/>
              </a:ext>
            </a:extLst>
          </p:cNvPr>
          <p:cNvSpPr>
            <a:spLocks noGrp="1"/>
          </p:cNvSpPr>
          <p:nvPr/>
        </p:nvSpPr>
        <p:spPr>
          <a:xfrm>
            <a:off x="685800" y="5429250"/>
            <a:ext cx="342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343B57"/>
                </a:solidFill>
              </a:defRPr>
            </a:pPr>
            <a:r>
              <a:rPr sz="1650" b="1">
                <a:solidFill>
                  <a:srgbClr val="343B57"/>
                </a:solidFill>
              </a:rPr>
              <a:t>Team: never fade away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941E766-E306-4977-ADFB-15C915D8FF76}"/>
              </a:ext>
            </a:extLst>
          </p:cNvPr>
          <p:cNvSpPr>
            <a:spLocks noGrp="1"/>
          </p:cNvSpPr>
          <p:nvPr/>
        </p:nvSpPr>
        <p:spPr>
          <a:xfrm>
            <a:off x="685800" y="5829300"/>
            <a:ext cx="6477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22263A"/>
                </a:solidFill>
              </a:defRPr>
            </a:pPr>
            <a:r>
              <a:rPr sz="1350">
                <a:solidFill>
                  <a:srgbClr val="22263A"/>
                </a:solidFill>
              </a:rPr>
              <a:t>Yuzhen Lin  |  Pinjia Li  |  Zecheng Sun  |  Jiatao He</a:t>
            </a:r>
          </a:p>
        </p:txBody>
      </p:sp>
    </p:spTree>
    <p:extLst>
      <p:ext uri="{BB962C8B-B14F-4D97-AF65-F5344CB8AC3E}">
        <p14:creationId xmlns:p14="http://schemas.microsoft.com/office/powerpoint/2010/main" val="186442685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1697</Words>
  <Application>Microsoft Office PowerPoint</Application>
  <DocSecurity>0</DocSecurity>
  <PresentationFormat>宽屏</PresentationFormat>
  <Paragraphs>223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3" baseType="lpstr"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品嘉 李</cp:lastModifiedBy>
  <cp:revision>5</cp:revision>
  <dcterms:created xsi:type="dcterms:W3CDTF">2026-07-27T07:35:55Z</dcterms:created>
  <dcterms:modified xsi:type="dcterms:W3CDTF">2026-07-27T08:32:25Z</dcterms:modified>
</cp:coreProperties>
</file>